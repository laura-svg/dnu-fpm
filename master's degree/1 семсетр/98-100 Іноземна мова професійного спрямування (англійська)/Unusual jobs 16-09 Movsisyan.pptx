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75" r:id="rId4"/>
    <p:sldId id="276" r:id="rId5"/>
    <p:sldId id="277" r:id="rId6"/>
    <p:sldId id="278" r:id="rId7"/>
    <p:sldId id="280" r:id="rId8"/>
    <p:sldId id="270" r:id="rId9"/>
  </p:sldIdLst>
  <p:sldSz cx="12192000" cy="6858000"/>
  <p:notesSz cx="6858000" cy="9144000"/>
  <p:defaultTextStyle>
    <a:defPPr>
      <a:defRPr lang="ru-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EED921-2E5E-1F88-D4A6-4D53441AFA8E}" name="Лаура Мовсисян" initials="ЛМ" userId="f9d2dd961befa2d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307" autoAdjust="0"/>
  </p:normalViewPr>
  <p:slideViewPr>
    <p:cSldViewPr snapToGrid="0">
      <p:cViewPr varScale="1">
        <p:scale>
          <a:sx n="67" d="100"/>
          <a:sy n="67" d="100"/>
        </p:scale>
        <p:origin x="54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314A5B-E0B7-4DF0-AEDB-936D60660ECD}" type="doc">
      <dgm:prSet loTypeId="urn:microsoft.com/office/officeart/2018/2/layout/IconCircleList" loCatId="icon" qsTypeId="urn:microsoft.com/office/officeart/2005/8/quickstyle/simple1" qsCatId="simple" csTypeId="urn:microsoft.com/office/officeart/2018/5/colors/Iconchunking_neutralbg_accent4_2" csCatId="accent4" phldr="1"/>
      <dgm:spPr/>
      <dgm:t>
        <a:bodyPr/>
        <a:lstStyle/>
        <a:p>
          <a:endParaRPr lang="en-US"/>
        </a:p>
      </dgm:t>
    </dgm:pt>
    <dgm:pt modelId="{D8330A2A-98A8-4168-9826-7D67E229E4B5}">
      <dgm:prSet/>
      <dgm:spPr/>
      <dgm:t>
        <a:bodyPr/>
        <a:lstStyle/>
        <a:p>
          <a:pPr>
            <a:lnSpc>
              <a:spcPct val="100000"/>
            </a:lnSpc>
          </a:pPr>
          <a:r>
            <a:rPr lang="en-US" b="0" i="0" dirty="0"/>
            <a:t>In conclusion, exploring unusual jobs like Nursery Manager, Pet Psychologist, and Dog Food Tester reveals the fascinating diversity in career paths available today. These roles, while unconventional, highlight the unique skills and passions that drive individuals to pursue them.</a:t>
          </a:r>
          <a:endParaRPr lang="en-US" dirty="0"/>
        </a:p>
      </dgm:t>
    </dgm:pt>
    <dgm:pt modelId="{F3186287-2DC2-4DE6-8136-2EEE4EA3896C}" type="parTrans" cxnId="{40F0FA20-E0A7-4BDF-9A75-A5A52D870E99}">
      <dgm:prSet/>
      <dgm:spPr/>
      <dgm:t>
        <a:bodyPr/>
        <a:lstStyle/>
        <a:p>
          <a:endParaRPr lang="en-US"/>
        </a:p>
      </dgm:t>
    </dgm:pt>
    <dgm:pt modelId="{9FE99CCB-BFEF-452E-AB8D-8684BC7DC3F6}" type="sibTrans" cxnId="{40F0FA20-E0A7-4BDF-9A75-A5A52D870E99}">
      <dgm:prSet/>
      <dgm:spPr/>
      <dgm:t>
        <a:bodyPr/>
        <a:lstStyle/>
        <a:p>
          <a:pPr>
            <a:lnSpc>
              <a:spcPct val="100000"/>
            </a:lnSpc>
          </a:pPr>
          <a:endParaRPr lang="en-US"/>
        </a:p>
      </dgm:t>
    </dgm:pt>
    <dgm:pt modelId="{17572AC9-A630-4E5A-87B2-E47BEF5E4855}">
      <dgm:prSet/>
      <dgm:spPr/>
      <dgm:t>
        <a:bodyPr/>
        <a:lstStyle/>
        <a:p>
          <a:pPr>
            <a:lnSpc>
              <a:spcPct val="100000"/>
            </a:lnSpc>
          </a:pPr>
          <a:r>
            <a:rPr lang="en-US" b="1" i="0"/>
            <a:t>Nursery Managers</a:t>
          </a:r>
          <a:r>
            <a:rPr lang="en-US" b="0" i="0"/>
            <a:t> play a crucial role in nurturing young plants, ensuring they grow healthy and strong, which is vital for our environment and agriculture. </a:t>
          </a:r>
          <a:r>
            <a:rPr lang="en-US" b="1" i="0"/>
            <a:t>Pet Psychologists</a:t>
          </a:r>
          <a:r>
            <a:rPr lang="en-US" b="0" i="0"/>
            <a:t> provide invaluable insights into animal behavior, helping pets and their owners live harmoniously. Meanwhile, </a:t>
          </a:r>
          <a:r>
            <a:rPr lang="en-US" b="1" i="0"/>
            <a:t>Dog Food Testers</a:t>
          </a:r>
          <a:r>
            <a:rPr lang="en-US" b="0" i="0"/>
            <a:t> ensure the quality and safety of pet food, contributing to the well-being of our furry friends.</a:t>
          </a:r>
          <a:endParaRPr lang="en-US"/>
        </a:p>
      </dgm:t>
    </dgm:pt>
    <dgm:pt modelId="{BAF01302-2C71-43E1-A0F7-2D0418892F44}" type="parTrans" cxnId="{2443E6F3-7CF4-4216-B619-CF84DD2A8786}">
      <dgm:prSet/>
      <dgm:spPr/>
      <dgm:t>
        <a:bodyPr/>
        <a:lstStyle/>
        <a:p>
          <a:endParaRPr lang="en-US"/>
        </a:p>
      </dgm:t>
    </dgm:pt>
    <dgm:pt modelId="{2A404F52-E44A-4F51-9437-B06C2631B965}" type="sibTrans" cxnId="{2443E6F3-7CF4-4216-B619-CF84DD2A8786}">
      <dgm:prSet/>
      <dgm:spPr/>
      <dgm:t>
        <a:bodyPr/>
        <a:lstStyle/>
        <a:p>
          <a:pPr>
            <a:lnSpc>
              <a:spcPct val="100000"/>
            </a:lnSpc>
          </a:pPr>
          <a:endParaRPr lang="en-US"/>
        </a:p>
      </dgm:t>
    </dgm:pt>
    <dgm:pt modelId="{30E4F204-A57D-4218-93A9-702A840A0533}">
      <dgm:prSet/>
      <dgm:spPr/>
      <dgm:t>
        <a:bodyPr/>
        <a:lstStyle/>
        <a:p>
          <a:pPr>
            <a:lnSpc>
              <a:spcPct val="100000"/>
            </a:lnSpc>
          </a:pPr>
          <a:r>
            <a:rPr lang="en-US" b="0" i="0"/>
            <a:t>These careers remind us that the job market is full of opportunities beyond the traditional paths. </a:t>
          </a:r>
          <a:r>
            <a:rPr lang="en-US" b="0" i="0" dirty="0"/>
            <a:t>They encourage us to think creatively about our own career choices and to appreciate the diverse ways people contribute to society. Embracing these unique professions can lead to fulfilling and impactful careers.</a:t>
          </a:r>
          <a:endParaRPr lang="en-US" dirty="0"/>
        </a:p>
      </dgm:t>
    </dgm:pt>
    <dgm:pt modelId="{D6D1500A-4CED-465F-8216-29F095414609}" type="parTrans" cxnId="{5AF10C2D-A8A2-4F0D-832B-A69E9EF66D27}">
      <dgm:prSet/>
      <dgm:spPr/>
      <dgm:t>
        <a:bodyPr/>
        <a:lstStyle/>
        <a:p>
          <a:endParaRPr lang="en-US"/>
        </a:p>
      </dgm:t>
    </dgm:pt>
    <dgm:pt modelId="{CB6D388A-3A38-4EC8-BAEE-6960FDC92EE0}" type="sibTrans" cxnId="{5AF10C2D-A8A2-4F0D-832B-A69E9EF66D27}">
      <dgm:prSet/>
      <dgm:spPr/>
      <dgm:t>
        <a:bodyPr/>
        <a:lstStyle/>
        <a:p>
          <a:pPr>
            <a:lnSpc>
              <a:spcPct val="100000"/>
            </a:lnSpc>
          </a:pPr>
          <a:endParaRPr lang="en-US"/>
        </a:p>
      </dgm:t>
    </dgm:pt>
    <dgm:pt modelId="{BA5C400B-4E82-4BC0-94AD-AB82B8E44D61}">
      <dgm:prSet/>
      <dgm:spPr/>
      <dgm:t>
        <a:bodyPr/>
        <a:lstStyle/>
        <a:p>
          <a:pPr>
            <a:lnSpc>
              <a:spcPct val="100000"/>
            </a:lnSpc>
          </a:pPr>
          <a:r>
            <a:rPr lang="en-US" b="0" i="0"/>
            <a:t>Thank you for your attention, and I hope this presentation has inspired you to consider the endless possibilities in the world of work.</a:t>
          </a:r>
          <a:endParaRPr lang="en-US"/>
        </a:p>
      </dgm:t>
    </dgm:pt>
    <dgm:pt modelId="{249D3ACD-86D5-40EA-8DB3-4DAC201D231A}" type="parTrans" cxnId="{AE3BAEF8-0F61-457E-AD11-8E0561BFEE89}">
      <dgm:prSet/>
      <dgm:spPr/>
      <dgm:t>
        <a:bodyPr/>
        <a:lstStyle/>
        <a:p>
          <a:endParaRPr lang="en-US"/>
        </a:p>
      </dgm:t>
    </dgm:pt>
    <dgm:pt modelId="{35EAD472-1840-4B65-A6C5-9BCB97AEE29A}" type="sibTrans" cxnId="{AE3BAEF8-0F61-457E-AD11-8E0561BFEE89}">
      <dgm:prSet/>
      <dgm:spPr/>
      <dgm:t>
        <a:bodyPr/>
        <a:lstStyle/>
        <a:p>
          <a:endParaRPr lang="en-US"/>
        </a:p>
      </dgm:t>
    </dgm:pt>
    <dgm:pt modelId="{F4787BD8-5290-408D-B041-B55FC539F6F2}" type="pres">
      <dgm:prSet presAssocID="{CE314A5B-E0B7-4DF0-AEDB-936D60660ECD}" presName="root" presStyleCnt="0">
        <dgm:presLayoutVars>
          <dgm:dir/>
          <dgm:resizeHandles val="exact"/>
        </dgm:presLayoutVars>
      </dgm:prSet>
      <dgm:spPr/>
    </dgm:pt>
    <dgm:pt modelId="{BFB526A7-E8F9-4809-BEB6-60F036B164C9}" type="pres">
      <dgm:prSet presAssocID="{CE314A5B-E0B7-4DF0-AEDB-936D60660ECD}" presName="container" presStyleCnt="0">
        <dgm:presLayoutVars>
          <dgm:dir/>
          <dgm:resizeHandles val="exact"/>
        </dgm:presLayoutVars>
      </dgm:prSet>
      <dgm:spPr/>
    </dgm:pt>
    <dgm:pt modelId="{6DA686E3-4164-485E-A65B-49F74F8F5DCD}" type="pres">
      <dgm:prSet presAssocID="{D8330A2A-98A8-4168-9826-7D67E229E4B5}" presName="compNode" presStyleCnt="0"/>
      <dgm:spPr/>
    </dgm:pt>
    <dgm:pt modelId="{6AE90D05-EA38-4FA1-A286-5C9827DB970D}" type="pres">
      <dgm:prSet presAssocID="{D8330A2A-98A8-4168-9826-7D67E229E4B5}" presName="iconBgRect" presStyleLbl="bgShp" presStyleIdx="0" presStyleCnt="4"/>
      <dgm:spPr/>
    </dgm:pt>
    <dgm:pt modelId="{7A5D130A-C06E-4ED1-B8ED-EC6150B9071F}" type="pres">
      <dgm:prSet presAssocID="{D8330A2A-98A8-4168-9826-7D67E229E4B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w Prints"/>
        </a:ext>
      </dgm:extLst>
    </dgm:pt>
    <dgm:pt modelId="{B383225A-8217-456A-A4C7-30B0B8D2A250}" type="pres">
      <dgm:prSet presAssocID="{D8330A2A-98A8-4168-9826-7D67E229E4B5}" presName="spaceRect" presStyleCnt="0"/>
      <dgm:spPr/>
    </dgm:pt>
    <dgm:pt modelId="{9F49E028-CEC4-4063-AF4D-4521A893BC75}" type="pres">
      <dgm:prSet presAssocID="{D8330A2A-98A8-4168-9826-7D67E229E4B5}" presName="textRect" presStyleLbl="revTx" presStyleIdx="0" presStyleCnt="4">
        <dgm:presLayoutVars>
          <dgm:chMax val="1"/>
          <dgm:chPref val="1"/>
        </dgm:presLayoutVars>
      </dgm:prSet>
      <dgm:spPr/>
    </dgm:pt>
    <dgm:pt modelId="{3A49B250-8E6C-40BA-B72A-62C94E95DAAE}" type="pres">
      <dgm:prSet presAssocID="{9FE99CCB-BFEF-452E-AB8D-8684BC7DC3F6}" presName="sibTrans" presStyleLbl="sibTrans2D1" presStyleIdx="0" presStyleCnt="0"/>
      <dgm:spPr/>
    </dgm:pt>
    <dgm:pt modelId="{F0371D11-1099-4EBD-AB30-E96BD41A89D7}" type="pres">
      <dgm:prSet presAssocID="{17572AC9-A630-4E5A-87B2-E47BEF5E4855}" presName="compNode" presStyleCnt="0"/>
      <dgm:spPr/>
    </dgm:pt>
    <dgm:pt modelId="{F5F317E6-CB70-4530-85BB-43E5846F03B8}" type="pres">
      <dgm:prSet presAssocID="{17572AC9-A630-4E5A-87B2-E47BEF5E4855}" presName="iconBgRect" presStyleLbl="bgShp" presStyleIdx="1" presStyleCnt="4"/>
      <dgm:spPr/>
    </dgm:pt>
    <dgm:pt modelId="{82829A80-3964-42D9-B2AB-C18E32274FD7}" type="pres">
      <dgm:prSet presAssocID="{17572AC9-A630-4E5A-87B2-E47BEF5E485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Насіння"/>
        </a:ext>
      </dgm:extLst>
    </dgm:pt>
    <dgm:pt modelId="{154AF049-B191-4E7F-88EF-708822100B64}" type="pres">
      <dgm:prSet presAssocID="{17572AC9-A630-4E5A-87B2-E47BEF5E4855}" presName="spaceRect" presStyleCnt="0"/>
      <dgm:spPr/>
    </dgm:pt>
    <dgm:pt modelId="{DE8E0433-B93A-4498-9B50-3DF24EAD5D7C}" type="pres">
      <dgm:prSet presAssocID="{17572AC9-A630-4E5A-87B2-E47BEF5E4855}" presName="textRect" presStyleLbl="revTx" presStyleIdx="1" presStyleCnt="4">
        <dgm:presLayoutVars>
          <dgm:chMax val="1"/>
          <dgm:chPref val="1"/>
        </dgm:presLayoutVars>
      </dgm:prSet>
      <dgm:spPr/>
    </dgm:pt>
    <dgm:pt modelId="{67C8ED50-5C9F-4A30-A1B0-E4443B4E81D5}" type="pres">
      <dgm:prSet presAssocID="{2A404F52-E44A-4F51-9437-B06C2631B965}" presName="sibTrans" presStyleLbl="sibTrans2D1" presStyleIdx="0" presStyleCnt="0"/>
      <dgm:spPr/>
    </dgm:pt>
    <dgm:pt modelId="{66133615-F77D-4BFC-93EB-64044D8B10D4}" type="pres">
      <dgm:prSet presAssocID="{30E4F204-A57D-4218-93A9-702A840A0533}" presName="compNode" presStyleCnt="0"/>
      <dgm:spPr/>
    </dgm:pt>
    <dgm:pt modelId="{789570E3-182D-4002-B516-EE139D6478B5}" type="pres">
      <dgm:prSet presAssocID="{30E4F204-A57D-4218-93A9-702A840A0533}" presName="iconBgRect" presStyleLbl="bgShp" presStyleIdx="2" presStyleCnt="4"/>
      <dgm:spPr/>
    </dgm:pt>
    <dgm:pt modelId="{4396B0AD-74F9-4558-AC3F-08416B65E2D6}" type="pres">
      <dgm:prSet presAssocID="{30E4F204-A57D-4218-93A9-702A840A053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класна кімната"/>
        </a:ext>
      </dgm:extLst>
    </dgm:pt>
    <dgm:pt modelId="{7B114A3B-AE44-447B-B736-F3D6FF47A531}" type="pres">
      <dgm:prSet presAssocID="{30E4F204-A57D-4218-93A9-702A840A0533}" presName="spaceRect" presStyleCnt="0"/>
      <dgm:spPr/>
    </dgm:pt>
    <dgm:pt modelId="{6FF6A18E-AF65-4C29-8D20-FA21011E4C4C}" type="pres">
      <dgm:prSet presAssocID="{30E4F204-A57D-4218-93A9-702A840A0533}" presName="textRect" presStyleLbl="revTx" presStyleIdx="2" presStyleCnt="4">
        <dgm:presLayoutVars>
          <dgm:chMax val="1"/>
          <dgm:chPref val="1"/>
        </dgm:presLayoutVars>
      </dgm:prSet>
      <dgm:spPr/>
    </dgm:pt>
    <dgm:pt modelId="{5569E1FC-16BD-408C-8454-1E8C73C7E7B7}" type="pres">
      <dgm:prSet presAssocID="{CB6D388A-3A38-4EC8-BAEE-6960FDC92EE0}" presName="sibTrans" presStyleLbl="sibTrans2D1" presStyleIdx="0" presStyleCnt="0"/>
      <dgm:spPr/>
    </dgm:pt>
    <dgm:pt modelId="{CB3FD523-E299-4BD2-B2E4-722EE66C227E}" type="pres">
      <dgm:prSet presAssocID="{BA5C400B-4E82-4BC0-94AD-AB82B8E44D61}" presName="compNode" presStyleCnt="0"/>
      <dgm:spPr/>
    </dgm:pt>
    <dgm:pt modelId="{1A0E78EE-5009-45E1-BD9D-A9D3A1B3EDBF}" type="pres">
      <dgm:prSet presAssocID="{BA5C400B-4E82-4BC0-94AD-AB82B8E44D61}" presName="iconBgRect" presStyleLbl="bgShp" presStyleIdx="3" presStyleCnt="4"/>
      <dgm:spPr/>
    </dgm:pt>
    <dgm:pt modelId="{EA5016E6-1096-4A30-A681-7C357856DCB5}" type="pres">
      <dgm:prSet presAssocID="{BA5C400B-4E82-4BC0-94AD-AB82B8E44D6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Лампочка"/>
        </a:ext>
      </dgm:extLst>
    </dgm:pt>
    <dgm:pt modelId="{E82CAA26-E166-4B44-A279-DFCDF780F807}" type="pres">
      <dgm:prSet presAssocID="{BA5C400B-4E82-4BC0-94AD-AB82B8E44D61}" presName="spaceRect" presStyleCnt="0"/>
      <dgm:spPr/>
    </dgm:pt>
    <dgm:pt modelId="{1A559CC6-05C1-46BC-870A-2E865504FFD4}" type="pres">
      <dgm:prSet presAssocID="{BA5C400B-4E82-4BC0-94AD-AB82B8E44D61}" presName="textRect" presStyleLbl="revTx" presStyleIdx="3" presStyleCnt="4">
        <dgm:presLayoutVars>
          <dgm:chMax val="1"/>
          <dgm:chPref val="1"/>
        </dgm:presLayoutVars>
      </dgm:prSet>
      <dgm:spPr/>
    </dgm:pt>
  </dgm:ptLst>
  <dgm:cxnLst>
    <dgm:cxn modelId="{29829A09-D08C-4FA8-9AB5-E2F5BA75587B}" type="presOf" srcId="{30E4F204-A57D-4218-93A9-702A840A0533}" destId="{6FF6A18E-AF65-4C29-8D20-FA21011E4C4C}" srcOrd="0" destOrd="0" presId="urn:microsoft.com/office/officeart/2018/2/layout/IconCircleList"/>
    <dgm:cxn modelId="{40F0FA20-E0A7-4BDF-9A75-A5A52D870E99}" srcId="{CE314A5B-E0B7-4DF0-AEDB-936D60660ECD}" destId="{D8330A2A-98A8-4168-9826-7D67E229E4B5}" srcOrd="0" destOrd="0" parTransId="{F3186287-2DC2-4DE6-8136-2EEE4EA3896C}" sibTransId="{9FE99CCB-BFEF-452E-AB8D-8684BC7DC3F6}"/>
    <dgm:cxn modelId="{08DCA72C-69FD-472E-A4AA-D6C25086622D}" type="presOf" srcId="{CB6D388A-3A38-4EC8-BAEE-6960FDC92EE0}" destId="{5569E1FC-16BD-408C-8454-1E8C73C7E7B7}" srcOrd="0" destOrd="0" presId="urn:microsoft.com/office/officeart/2018/2/layout/IconCircleList"/>
    <dgm:cxn modelId="{5AF10C2D-A8A2-4F0D-832B-A69E9EF66D27}" srcId="{CE314A5B-E0B7-4DF0-AEDB-936D60660ECD}" destId="{30E4F204-A57D-4218-93A9-702A840A0533}" srcOrd="2" destOrd="0" parTransId="{D6D1500A-4CED-465F-8216-29F095414609}" sibTransId="{CB6D388A-3A38-4EC8-BAEE-6960FDC92EE0}"/>
    <dgm:cxn modelId="{EB6A1D3F-FACA-455B-88E8-383F52D6E635}" type="presOf" srcId="{CE314A5B-E0B7-4DF0-AEDB-936D60660ECD}" destId="{F4787BD8-5290-408D-B041-B55FC539F6F2}" srcOrd="0" destOrd="0" presId="urn:microsoft.com/office/officeart/2018/2/layout/IconCircleList"/>
    <dgm:cxn modelId="{CDE18881-ED5C-47BB-9D0C-C20776A67013}" type="presOf" srcId="{2A404F52-E44A-4F51-9437-B06C2631B965}" destId="{67C8ED50-5C9F-4A30-A1B0-E4443B4E81D5}" srcOrd="0" destOrd="0" presId="urn:microsoft.com/office/officeart/2018/2/layout/IconCircleList"/>
    <dgm:cxn modelId="{689364BE-149E-4CEF-9CD0-5CDE3168BA2F}" type="presOf" srcId="{17572AC9-A630-4E5A-87B2-E47BEF5E4855}" destId="{DE8E0433-B93A-4498-9B50-3DF24EAD5D7C}" srcOrd="0" destOrd="0" presId="urn:microsoft.com/office/officeart/2018/2/layout/IconCircleList"/>
    <dgm:cxn modelId="{3251EDE9-5593-4402-A73F-D834CF88C0DC}" type="presOf" srcId="{D8330A2A-98A8-4168-9826-7D67E229E4B5}" destId="{9F49E028-CEC4-4063-AF4D-4521A893BC75}" srcOrd="0" destOrd="0" presId="urn:microsoft.com/office/officeart/2018/2/layout/IconCircleList"/>
    <dgm:cxn modelId="{54757DF3-2ABD-4CF6-8B1C-8DE39AAF0432}" type="presOf" srcId="{9FE99CCB-BFEF-452E-AB8D-8684BC7DC3F6}" destId="{3A49B250-8E6C-40BA-B72A-62C94E95DAAE}" srcOrd="0" destOrd="0" presId="urn:microsoft.com/office/officeart/2018/2/layout/IconCircleList"/>
    <dgm:cxn modelId="{2443E6F3-7CF4-4216-B619-CF84DD2A8786}" srcId="{CE314A5B-E0B7-4DF0-AEDB-936D60660ECD}" destId="{17572AC9-A630-4E5A-87B2-E47BEF5E4855}" srcOrd="1" destOrd="0" parTransId="{BAF01302-2C71-43E1-A0F7-2D0418892F44}" sibTransId="{2A404F52-E44A-4F51-9437-B06C2631B965}"/>
    <dgm:cxn modelId="{A82185F5-F7A0-4304-9FE9-DDF545D95099}" type="presOf" srcId="{BA5C400B-4E82-4BC0-94AD-AB82B8E44D61}" destId="{1A559CC6-05C1-46BC-870A-2E865504FFD4}" srcOrd="0" destOrd="0" presId="urn:microsoft.com/office/officeart/2018/2/layout/IconCircleList"/>
    <dgm:cxn modelId="{AE3BAEF8-0F61-457E-AD11-8E0561BFEE89}" srcId="{CE314A5B-E0B7-4DF0-AEDB-936D60660ECD}" destId="{BA5C400B-4E82-4BC0-94AD-AB82B8E44D61}" srcOrd="3" destOrd="0" parTransId="{249D3ACD-86D5-40EA-8DB3-4DAC201D231A}" sibTransId="{35EAD472-1840-4B65-A6C5-9BCB97AEE29A}"/>
    <dgm:cxn modelId="{EFF260CF-D7DE-4A4E-BC10-0F22CF4016A3}" type="presParOf" srcId="{F4787BD8-5290-408D-B041-B55FC539F6F2}" destId="{BFB526A7-E8F9-4809-BEB6-60F036B164C9}" srcOrd="0" destOrd="0" presId="urn:microsoft.com/office/officeart/2018/2/layout/IconCircleList"/>
    <dgm:cxn modelId="{4C58DD79-D0BC-4172-B6AD-8DC80680AE3D}" type="presParOf" srcId="{BFB526A7-E8F9-4809-BEB6-60F036B164C9}" destId="{6DA686E3-4164-485E-A65B-49F74F8F5DCD}" srcOrd="0" destOrd="0" presId="urn:microsoft.com/office/officeart/2018/2/layout/IconCircleList"/>
    <dgm:cxn modelId="{5DD96BBD-927A-416D-A0C1-61878E12307B}" type="presParOf" srcId="{6DA686E3-4164-485E-A65B-49F74F8F5DCD}" destId="{6AE90D05-EA38-4FA1-A286-5C9827DB970D}" srcOrd="0" destOrd="0" presId="urn:microsoft.com/office/officeart/2018/2/layout/IconCircleList"/>
    <dgm:cxn modelId="{E9273D23-7552-451E-AD66-B745B9AB7D34}" type="presParOf" srcId="{6DA686E3-4164-485E-A65B-49F74F8F5DCD}" destId="{7A5D130A-C06E-4ED1-B8ED-EC6150B9071F}" srcOrd="1" destOrd="0" presId="urn:microsoft.com/office/officeart/2018/2/layout/IconCircleList"/>
    <dgm:cxn modelId="{5EA030D3-46E9-4DBC-A3CF-4E1D69C201A0}" type="presParOf" srcId="{6DA686E3-4164-485E-A65B-49F74F8F5DCD}" destId="{B383225A-8217-456A-A4C7-30B0B8D2A250}" srcOrd="2" destOrd="0" presId="urn:microsoft.com/office/officeart/2018/2/layout/IconCircleList"/>
    <dgm:cxn modelId="{31173199-3E45-40B9-959E-CFB6035A515B}" type="presParOf" srcId="{6DA686E3-4164-485E-A65B-49F74F8F5DCD}" destId="{9F49E028-CEC4-4063-AF4D-4521A893BC75}" srcOrd="3" destOrd="0" presId="urn:microsoft.com/office/officeart/2018/2/layout/IconCircleList"/>
    <dgm:cxn modelId="{AD3BDBAB-BC88-4309-99F6-FDA86B38135A}" type="presParOf" srcId="{BFB526A7-E8F9-4809-BEB6-60F036B164C9}" destId="{3A49B250-8E6C-40BA-B72A-62C94E95DAAE}" srcOrd="1" destOrd="0" presId="urn:microsoft.com/office/officeart/2018/2/layout/IconCircleList"/>
    <dgm:cxn modelId="{F256192D-64F8-456B-999C-A89D02D60575}" type="presParOf" srcId="{BFB526A7-E8F9-4809-BEB6-60F036B164C9}" destId="{F0371D11-1099-4EBD-AB30-E96BD41A89D7}" srcOrd="2" destOrd="0" presId="urn:microsoft.com/office/officeart/2018/2/layout/IconCircleList"/>
    <dgm:cxn modelId="{149CC2D7-381C-444D-B16F-B97723B0EB96}" type="presParOf" srcId="{F0371D11-1099-4EBD-AB30-E96BD41A89D7}" destId="{F5F317E6-CB70-4530-85BB-43E5846F03B8}" srcOrd="0" destOrd="0" presId="urn:microsoft.com/office/officeart/2018/2/layout/IconCircleList"/>
    <dgm:cxn modelId="{BFE636A6-25C7-4EBA-BD24-CB8AAA053ADE}" type="presParOf" srcId="{F0371D11-1099-4EBD-AB30-E96BD41A89D7}" destId="{82829A80-3964-42D9-B2AB-C18E32274FD7}" srcOrd="1" destOrd="0" presId="urn:microsoft.com/office/officeart/2018/2/layout/IconCircleList"/>
    <dgm:cxn modelId="{61AF0E76-8D7E-48D2-A367-394F9B53E385}" type="presParOf" srcId="{F0371D11-1099-4EBD-AB30-E96BD41A89D7}" destId="{154AF049-B191-4E7F-88EF-708822100B64}" srcOrd="2" destOrd="0" presId="urn:microsoft.com/office/officeart/2018/2/layout/IconCircleList"/>
    <dgm:cxn modelId="{9A6D2F85-7780-48C5-B06C-D785761F5702}" type="presParOf" srcId="{F0371D11-1099-4EBD-AB30-E96BD41A89D7}" destId="{DE8E0433-B93A-4498-9B50-3DF24EAD5D7C}" srcOrd="3" destOrd="0" presId="urn:microsoft.com/office/officeart/2018/2/layout/IconCircleList"/>
    <dgm:cxn modelId="{AC817760-E801-4533-BCD6-4532DC9EC030}" type="presParOf" srcId="{BFB526A7-E8F9-4809-BEB6-60F036B164C9}" destId="{67C8ED50-5C9F-4A30-A1B0-E4443B4E81D5}" srcOrd="3" destOrd="0" presId="urn:microsoft.com/office/officeart/2018/2/layout/IconCircleList"/>
    <dgm:cxn modelId="{D97A0DAF-CE85-4360-AD54-712AFCB92FCF}" type="presParOf" srcId="{BFB526A7-E8F9-4809-BEB6-60F036B164C9}" destId="{66133615-F77D-4BFC-93EB-64044D8B10D4}" srcOrd="4" destOrd="0" presId="urn:microsoft.com/office/officeart/2018/2/layout/IconCircleList"/>
    <dgm:cxn modelId="{E314C3AF-6416-4015-BC07-E9A869DCC769}" type="presParOf" srcId="{66133615-F77D-4BFC-93EB-64044D8B10D4}" destId="{789570E3-182D-4002-B516-EE139D6478B5}" srcOrd="0" destOrd="0" presId="urn:microsoft.com/office/officeart/2018/2/layout/IconCircleList"/>
    <dgm:cxn modelId="{AEDC8738-400A-4A96-A4B3-727E6A9B39F6}" type="presParOf" srcId="{66133615-F77D-4BFC-93EB-64044D8B10D4}" destId="{4396B0AD-74F9-4558-AC3F-08416B65E2D6}" srcOrd="1" destOrd="0" presId="urn:microsoft.com/office/officeart/2018/2/layout/IconCircleList"/>
    <dgm:cxn modelId="{FA4EDDA2-A3A5-4B45-8F95-531971887144}" type="presParOf" srcId="{66133615-F77D-4BFC-93EB-64044D8B10D4}" destId="{7B114A3B-AE44-447B-B736-F3D6FF47A531}" srcOrd="2" destOrd="0" presId="urn:microsoft.com/office/officeart/2018/2/layout/IconCircleList"/>
    <dgm:cxn modelId="{29595C9E-9645-45BB-8F77-239FE6ADD31B}" type="presParOf" srcId="{66133615-F77D-4BFC-93EB-64044D8B10D4}" destId="{6FF6A18E-AF65-4C29-8D20-FA21011E4C4C}" srcOrd="3" destOrd="0" presId="urn:microsoft.com/office/officeart/2018/2/layout/IconCircleList"/>
    <dgm:cxn modelId="{FABB360E-C9CB-41A5-B208-8B474906C539}" type="presParOf" srcId="{BFB526A7-E8F9-4809-BEB6-60F036B164C9}" destId="{5569E1FC-16BD-408C-8454-1E8C73C7E7B7}" srcOrd="5" destOrd="0" presId="urn:microsoft.com/office/officeart/2018/2/layout/IconCircleList"/>
    <dgm:cxn modelId="{776686D7-7AEE-4EBD-8A36-B607E1461A1E}" type="presParOf" srcId="{BFB526A7-E8F9-4809-BEB6-60F036B164C9}" destId="{CB3FD523-E299-4BD2-B2E4-722EE66C227E}" srcOrd="6" destOrd="0" presId="urn:microsoft.com/office/officeart/2018/2/layout/IconCircleList"/>
    <dgm:cxn modelId="{F14073C2-E813-497B-8266-0A007FEFF87E}" type="presParOf" srcId="{CB3FD523-E299-4BD2-B2E4-722EE66C227E}" destId="{1A0E78EE-5009-45E1-BD9D-A9D3A1B3EDBF}" srcOrd="0" destOrd="0" presId="urn:microsoft.com/office/officeart/2018/2/layout/IconCircleList"/>
    <dgm:cxn modelId="{360C5F4A-BBC0-45A7-A553-F4DE0CFF36E8}" type="presParOf" srcId="{CB3FD523-E299-4BD2-B2E4-722EE66C227E}" destId="{EA5016E6-1096-4A30-A681-7C357856DCB5}" srcOrd="1" destOrd="0" presId="urn:microsoft.com/office/officeart/2018/2/layout/IconCircleList"/>
    <dgm:cxn modelId="{40458DF4-93B9-4057-9F0E-F00236BB319B}" type="presParOf" srcId="{CB3FD523-E299-4BD2-B2E4-722EE66C227E}" destId="{E82CAA26-E166-4B44-A279-DFCDF780F807}" srcOrd="2" destOrd="0" presId="urn:microsoft.com/office/officeart/2018/2/layout/IconCircleList"/>
    <dgm:cxn modelId="{6370DACA-F754-462B-8EA6-60F6BC88FB19}" type="presParOf" srcId="{CB3FD523-E299-4BD2-B2E4-722EE66C227E}" destId="{1A559CC6-05C1-46BC-870A-2E865504FFD4}"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E90D05-EA38-4FA1-A286-5C9827DB970D}">
      <dsp:nvSpPr>
        <dsp:cNvPr id="0" name=""/>
        <dsp:cNvSpPr/>
      </dsp:nvSpPr>
      <dsp:spPr>
        <a:xfrm>
          <a:off x="212335" y="469890"/>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5D130A-C06E-4ED1-B8ED-EC6150B9071F}">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F49E028-CEC4-4063-AF4D-4521A893BC75}">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i="0" kern="1200" dirty="0"/>
            <a:t>In conclusion, exploring unusual jobs like Nursery Manager, Pet Psychologist, and Dog Food Tester reveals the fascinating diversity in career paths available today. These roles, while unconventional, highlight the unique skills and passions that drive individuals to pursue them.</a:t>
          </a:r>
          <a:endParaRPr lang="en-US" sz="1100" kern="1200" dirty="0"/>
        </a:p>
      </dsp:txBody>
      <dsp:txXfrm>
        <a:off x="1834517" y="469890"/>
        <a:ext cx="3148942" cy="1335915"/>
      </dsp:txXfrm>
    </dsp:sp>
    <dsp:sp modelId="{F5F317E6-CB70-4530-85BB-43E5846F03B8}">
      <dsp:nvSpPr>
        <dsp:cNvPr id="0" name=""/>
        <dsp:cNvSpPr/>
      </dsp:nvSpPr>
      <dsp:spPr>
        <a:xfrm>
          <a:off x="5532139" y="469890"/>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829A80-3964-42D9-B2AB-C18E32274FD7}">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8E0433-B93A-4498-9B50-3DF24EAD5D7C}">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i="0" kern="1200"/>
            <a:t>Nursery Managers</a:t>
          </a:r>
          <a:r>
            <a:rPr lang="en-US" sz="1100" b="0" i="0" kern="1200"/>
            <a:t> play a crucial role in nurturing young plants, ensuring they grow healthy and strong, which is vital for our environment and agriculture. </a:t>
          </a:r>
          <a:r>
            <a:rPr lang="en-US" sz="1100" b="1" i="0" kern="1200"/>
            <a:t>Pet Psychologists</a:t>
          </a:r>
          <a:r>
            <a:rPr lang="en-US" sz="1100" b="0" i="0" kern="1200"/>
            <a:t> provide invaluable insights into animal behavior, helping pets and their owners live harmoniously. Meanwhile, </a:t>
          </a:r>
          <a:r>
            <a:rPr lang="en-US" sz="1100" b="1" i="0" kern="1200"/>
            <a:t>Dog Food Testers</a:t>
          </a:r>
          <a:r>
            <a:rPr lang="en-US" sz="1100" b="0" i="0" kern="1200"/>
            <a:t> ensure the quality and safety of pet food, contributing to the well-being of our furry friends.</a:t>
          </a:r>
          <a:endParaRPr lang="en-US" sz="1100" kern="1200"/>
        </a:p>
      </dsp:txBody>
      <dsp:txXfrm>
        <a:off x="7154322" y="469890"/>
        <a:ext cx="3148942" cy="1335915"/>
      </dsp:txXfrm>
    </dsp:sp>
    <dsp:sp modelId="{789570E3-182D-4002-B516-EE139D6478B5}">
      <dsp:nvSpPr>
        <dsp:cNvPr id="0" name=""/>
        <dsp:cNvSpPr/>
      </dsp:nvSpPr>
      <dsp:spPr>
        <a:xfrm>
          <a:off x="212335" y="2545532"/>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396B0AD-74F9-4558-AC3F-08416B65E2D6}">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F6A18E-AF65-4C29-8D20-FA21011E4C4C}">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i="0" kern="1200"/>
            <a:t>These careers remind us that the job market is full of opportunities beyond the traditional paths. </a:t>
          </a:r>
          <a:r>
            <a:rPr lang="en-US" sz="1100" b="0" i="0" kern="1200" dirty="0"/>
            <a:t>They encourage us to think creatively about our own career choices and to appreciate the diverse ways people contribute to society. Embracing these unique professions can lead to fulfilling and impactful careers.</a:t>
          </a:r>
          <a:endParaRPr lang="en-US" sz="1100" kern="1200" dirty="0"/>
        </a:p>
      </dsp:txBody>
      <dsp:txXfrm>
        <a:off x="1834517" y="2545532"/>
        <a:ext cx="3148942" cy="1335915"/>
      </dsp:txXfrm>
    </dsp:sp>
    <dsp:sp modelId="{1A0E78EE-5009-45E1-BD9D-A9D3A1B3EDBF}">
      <dsp:nvSpPr>
        <dsp:cNvPr id="0" name=""/>
        <dsp:cNvSpPr/>
      </dsp:nvSpPr>
      <dsp:spPr>
        <a:xfrm>
          <a:off x="5532139" y="2545532"/>
          <a:ext cx="1335915" cy="1335915"/>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5016E6-1096-4A30-A681-7C357856DCB5}">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A559CC6-05C1-46BC-870A-2E865504FFD4}">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0" i="0" kern="1200"/>
            <a:t>Thank you for your attention, and I hope this presentation has inspired you to consider the endless possibilities in the world of work.</a:t>
          </a:r>
          <a:endParaRPr lang="en-US" sz="1100" kern="1200"/>
        </a:p>
      </dsp:txBody>
      <dsp:txXfrm>
        <a:off x="7154322" y="254553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UA"/>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023B5A-88B0-43EB-9A87-40F0EFC0D5BB}" type="datetimeFigureOut">
              <a:rPr lang="ru-UA" smtClean="0"/>
              <a:t>22.09.2024</a:t>
            </a:fld>
            <a:endParaRPr lang="ru-UA"/>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UA"/>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UA"/>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D8980F-24FD-4994-BA77-50894EA02227}" type="slidenum">
              <a:rPr lang="ru-UA" smtClean="0"/>
              <a:t>‹№›</a:t>
            </a:fld>
            <a:endParaRPr lang="ru-UA"/>
          </a:p>
        </p:txBody>
      </p:sp>
    </p:spTree>
    <p:extLst>
      <p:ext uri="{BB962C8B-B14F-4D97-AF65-F5344CB8AC3E}">
        <p14:creationId xmlns:p14="http://schemas.microsoft.com/office/powerpoint/2010/main" val="3105840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endParaRPr lang="ru-UA" dirty="0"/>
          </a:p>
        </p:txBody>
      </p:sp>
      <p:sp>
        <p:nvSpPr>
          <p:cNvPr id="4" name="Місце для номера слайда 3"/>
          <p:cNvSpPr>
            <a:spLocks noGrp="1"/>
          </p:cNvSpPr>
          <p:nvPr>
            <p:ph type="sldNum" sz="quarter" idx="5"/>
          </p:nvPr>
        </p:nvSpPr>
        <p:spPr/>
        <p:txBody>
          <a:bodyPr/>
          <a:lstStyle/>
          <a:p>
            <a:fld id="{CFD8980F-24FD-4994-BA77-50894EA02227}" type="slidenum">
              <a:rPr lang="ru-UA" smtClean="0"/>
              <a:t>1</a:t>
            </a:fld>
            <a:endParaRPr lang="ru-UA"/>
          </a:p>
        </p:txBody>
      </p:sp>
    </p:spTree>
    <p:extLst>
      <p:ext uri="{BB962C8B-B14F-4D97-AF65-F5344CB8AC3E}">
        <p14:creationId xmlns:p14="http://schemas.microsoft.com/office/powerpoint/2010/main" val="295299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en-US" b="1" i="0" dirty="0">
                <a:effectLst/>
                <a:latin typeface="SegoeUIVariable"/>
              </a:rPr>
              <a:t>Slide 1: Overview of a Nursery Manager</a:t>
            </a:r>
          </a:p>
          <a:p>
            <a:pPr algn="l"/>
            <a:r>
              <a:rPr lang="ru-UA" b="1" i="0" dirty="0">
                <a:solidFill>
                  <a:srgbClr val="2D2D2D"/>
                </a:solidFill>
                <a:effectLst/>
                <a:latin typeface="Indeed Sans"/>
              </a:rPr>
              <a:t>£32,996</a:t>
            </a:r>
            <a:r>
              <a:rPr lang="en-US" b="1" i="0" dirty="0">
                <a:solidFill>
                  <a:srgbClr val="2D2D2D"/>
                </a:solidFill>
                <a:effectLst/>
                <a:latin typeface="SegoeUIVariable"/>
              </a:rPr>
              <a:t> </a:t>
            </a:r>
            <a:r>
              <a:rPr lang="en-US" b="0" i="0" dirty="0">
                <a:solidFill>
                  <a:srgbClr val="595959"/>
                </a:solidFill>
                <a:effectLst/>
                <a:latin typeface="Indeed Sans"/>
              </a:rPr>
              <a:t>Average base salary</a:t>
            </a:r>
            <a:br>
              <a:rPr lang="en-US" b="0" i="0" dirty="0">
                <a:solidFill>
                  <a:srgbClr val="595959"/>
                </a:solidFill>
                <a:effectLst/>
                <a:latin typeface="Indeed Sans"/>
              </a:rPr>
            </a:br>
            <a:endParaRPr lang="en-US" b="1" i="0" dirty="0">
              <a:effectLst/>
              <a:latin typeface="SegoeUIVariable"/>
            </a:endParaRPr>
          </a:p>
          <a:p>
            <a:pPr algn="l"/>
            <a:r>
              <a:rPr lang="en-US" b="1" i="0" dirty="0">
                <a:effectLst/>
                <a:latin typeface="SegoeUIVariable"/>
              </a:rPr>
              <a:t>Title:</a:t>
            </a:r>
            <a:r>
              <a:rPr lang="en-US" b="0" i="0" dirty="0">
                <a:effectLst/>
                <a:latin typeface="SegoeUIVariable"/>
              </a:rPr>
              <a:t> </a:t>
            </a:r>
            <a:r>
              <a:rPr lang="en-US" b="1" i="0" dirty="0">
                <a:effectLst/>
                <a:latin typeface="SegoeUIVariable"/>
              </a:rPr>
              <a:t>Nursery Manager: Role and Responsibilities</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Introduction:</a:t>
            </a:r>
            <a:endParaRPr lang="en-US" b="0" i="0" dirty="0">
              <a:effectLst/>
              <a:latin typeface="SegoeUIVariable"/>
            </a:endParaRPr>
          </a:p>
          <a:p>
            <a:pPr marL="742950" lvl="1" indent="-285750" algn="l">
              <a:buFont typeface="Arial" panose="020B0604020202020204" pitchFamily="34" charset="0"/>
              <a:buChar char="•"/>
            </a:pPr>
            <a:r>
              <a:rPr lang="en-US" b="0" i="0" dirty="0">
                <a:effectLst/>
                <a:latin typeface="SegoeUIVariable"/>
              </a:rPr>
              <a:t>A Nursery Manager oversees the daily operations of a nursery or childcare center.</a:t>
            </a:r>
          </a:p>
          <a:p>
            <a:pPr marL="742950" lvl="1" indent="-285750" algn="l">
              <a:buFont typeface="Arial" panose="020B0604020202020204" pitchFamily="34" charset="0"/>
              <a:buChar char="•"/>
            </a:pPr>
            <a:r>
              <a:rPr lang="en-US" b="0" i="0" dirty="0">
                <a:effectLst/>
                <a:latin typeface="SegoeUIVariable"/>
              </a:rPr>
              <a:t>Ensures a safe, nurturing, and educational environment for young children.</a:t>
            </a:r>
          </a:p>
          <a:p>
            <a:pPr algn="l">
              <a:buFont typeface="Arial" panose="020B0604020202020204" pitchFamily="34" charset="0"/>
              <a:buChar char="•"/>
            </a:pPr>
            <a:r>
              <a:rPr lang="en-US" b="1" i="0" dirty="0">
                <a:effectLst/>
                <a:latin typeface="SegoeUIVariable"/>
              </a:rPr>
              <a:t>Key Responsibilities:</a:t>
            </a:r>
            <a:endParaRPr lang="en-US" b="0" i="0" dirty="0">
              <a:effectLst/>
              <a:latin typeface="SegoeUIVariable"/>
            </a:endParaRPr>
          </a:p>
          <a:p>
            <a:pPr marL="742950" lvl="1" indent="-285750" algn="l">
              <a:buFont typeface="Arial" panose="020B0604020202020204" pitchFamily="34" charset="0"/>
              <a:buChar char="•"/>
            </a:pPr>
            <a:r>
              <a:rPr lang="en-US" b="1" i="0" dirty="0">
                <a:effectLst/>
                <a:latin typeface="SegoeUIVariable"/>
              </a:rPr>
              <a:t>Curriculum Development:</a:t>
            </a:r>
            <a:r>
              <a:rPr lang="en-US" b="0" i="0" dirty="0">
                <a:effectLst/>
                <a:latin typeface="SegoeUIVariable"/>
              </a:rPr>
              <a:t> Plan and implement educational activities to stimulate children’s intellectual, physical, and social growth.</a:t>
            </a:r>
          </a:p>
          <a:p>
            <a:pPr marL="742950" lvl="1" indent="-285750" algn="l">
              <a:buFont typeface="Arial" panose="020B0604020202020204" pitchFamily="34" charset="0"/>
              <a:buChar char="•"/>
            </a:pPr>
            <a:r>
              <a:rPr lang="en-US" b="1" i="0" dirty="0">
                <a:effectLst/>
                <a:latin typeface="SegoeUIVariable"/>
              </a:rPr>
              <a:t>Staff Management:</a:t>
            </a:r>
            <a:r>
              <a:rPr lang="en-US" b="0" i="0" dirty="0">
                <a:effectLst/>
                <a:latin typeface="SegoeUIVariable"/>
              </a:rPr>
              <a:t> Recruit, hire, train, and supervise nursery staff.</a:t>
            </a:r>
          </a:p>
          <a:p>
            <a:pPr marL="742950" lvl="1" indent="-285750" algn="l">
              <a:buFont typeface="Arial" panose="020B0604020202020204" pitchFamily="34" charset="0"/>
              <a:buChar char="•"/>
            </a:pPr>
            <a:r>
              <a:rPr lang="en-US" b="1" i="0" dirty="0">
                <a:effectLst/>
                <a:latin typeface="SegoeUIVariable"/>
              </a:rPr>
              <a:t>Health and Safety:</a:t>
            </a:r>
            <a:r>
              <a:rPr lang="en-US" b="0" i="0" dirty="0">
                <a:effectLst/>
                <a:latin typeface="SegoeUIVariable"/>
              </a:rPr>
              <a:t> Ensure compliance with health and safety regulations.</a:t>
            </a:r>
          </a:p>
          <a:p>
            <a:pPr marL="742950" lvl="1" indent="-285750" algn="l">
              <a:buFont typeface="Arial" panose="020B0604020202020204" pitchFamily="34" charset="0"/>
              <a:buChar char="•"/>
            </a:pPr>
            <a:r>
              <a:rPr lang="en-US" b="1" i="0" dirty="0">
                <a:effectLst/>
                <a:latin typeface="SegoeUIVariable"/>
              </a:rPr>
              <a:t>Parent Communication:</a:t>
            </a:r>
            <a:r>
              <a:rPr lang="en-US" b="0" i="0" dirty="0">
                <a:effectLst/>
                <a:latin typeface="SegoeUIVariable"/>
              </a:rPr>
              <a:t> Regularly update parents on their child’s progress and address any concerns.</a:t>
            </a:r>
          </a:p>
          <a:p>
            <a:pPr marL="742950" lvl="1" indent="-285750" algn="l">
              <a:buFont typeface="Arial" panose="020B0604020202020204" pitchFamily="34" charset="0"/>
              <a:buChar char="•"/>
            </a:pPr>
            <a:r>
              <a:rPr lang="en-US" b="1" i="0" dirty="0">
                <a:effectLst/>
                <a:latin typeface="SegoeUIVariable"/>
              </a:rPr>
              <a:t>Budget Management:</a:t>
            </a:r>
            <a:r>
              <a:rPr lang="en-US" b="0" i="0" dirty="0">
                <a:effectLst/>
                <a:latin typeface="SegoeUIVariable"/>
              </a:rPr>
              <a:t> Manage budgets and ensure resources are well-stocked and of high quality.</a:t>
            </a:r>
          </a:p>
          <a:p>
            <a:endParaRPr lang="ru-UA" dirty="0"/>
          </a:p>
        </p:txBody>
      </p:sp>
      <p:sp>
        <p:nvSpPr>
          <p:cNvPr id="4" name="Номер слайда 3"/>
          <p:cNvSpPr>
            <a:spLocks noGrp="1"/>
          </p:cNvSpPr>
          <p:nvPr>
            <p:ph type="sldNum" sz="quarter" idx="5"/>
          </p:nvPr>
        </p:nvSpPr>
        <p:spPr/>
        <p:txBody>
          <a:bodyPr/>
          <a:lstStyle/>
          <a:p>
            <a:fld id="{CFD8980F-24FD-4994-BA77-50894EA02227}" type="slidenum">
              <a:rPr lang="ru-UA" smtClean="0"/>
              <a:t>2</a:t>
            </a:fld>
            <a:endParaRPr lang="ru-UA"/>
          </a:p>
        </p:txBody>
      </p:sp>
    </p:spTree>
    <p:extLst>
      <p:ext uri="{BB962C8B-B14F-4D97-AF65-F5344CB8AC3E}">
        <p14:creationId xmlns:p14="http://schemas.microsoft.com/office/powerpoint/2010/main" val="1159604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UA" dirty="0"/>
          </a:p>
        </p:txBody>
      </p:sp>
      <p:sp>
        <p:nvSpPr>
          <p:cNvPr id="4" name="Номер слайда 3"/>
          <p:cNvSpPr>
            <a:spLocks noGrp="1"/>
          </p:cNvSpPr>
          <p:nvPr>
            <p:ph type="sldNum" sz="quarter" idx="5"/>
          </p:nvPr>
        </p:nvSpPr>
        <p:spPr/>
        <p:txBody>
          <a:bodyPr/>
          <a:lstStyle/>
          <a:p>
            <a:fld id="{CFD8980F-24FD-4994-BA77-50894EA02227}" type="slidenum">
              <a:rPr lang="ru-UA" smtClean="0"/>
              <a:t>3</a:t>
            </a:fld>
            <a:endParaRPr lang="ru-UA"/>
          </a:p>
        </p:txBody>
      </p:sp>
    </p:spTree>
    <p:extLst>
      <p:ext uri="{BB962C8B-B14F-4D97-AF65-F5344CB8AC3E}">
        <p14:creationId xmlns:p14="http://schemas.microsoft.com/office/powerpoint/2010/main" val="3965757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en-US" b="1" i="0" dirty="0">
                <a:effectLst/>
                <a:latin typeface="SegoeUIVariable"/>
              </a:rPr>
              <a:t>Slide 1: Overview of a Pet Psychologist</a:t>
            </a:r>
          </a:p>
          <a:p>
            <a:pPr algn="l"/>
            <a:r>
              <a:rPr lang="en-US" b="0" i="0" dirty="0">
                <a:solidFill>
                  <a:srgbClr val="222222"/>
                </a:solidFill>
                <a:effectLst/>
                <a:latin typeface="sofia-pro-bold"/>
              </a:rPr>
              <a:t>Earning potential:</a:t>
            </a:r>
            <a:r>
              <a:rPr lang="en-US" b="0" i="0" dirty="0">
                <a:solidFill>
                  <a:srgbClr val="222222"/>
                </a:solidFill>
                <a:effectLst/>
                <a:latin typeface="sofia-pro-light"/>
              </a:rPr>
              <a:t> $52,000</a:t>
            </a:r>
            <a:endParaRPr lang="en-US" b="1" i="0" dirty="0">
              <a:effectLst/>
              <a:latin typeface="SegoeUIVariable"/>
            </a:endParaRPr>
          </a:p>
          <a:p>
            <a:pPr algn="l"/>
            <a:r>
              <a:rPr lang="en-US" b="1" i="0" dirty="0">
                <a:effectLst/>
                <a:latin typeface="SegoeUIVariable"/>
              </a:rPr>
              <a:t>Title:</a:t>
            </a:r>
            <a:r>
              <a:rPr lang="en-US" b="0" i="0" dirty="0">
                <a:effectLst/>
                <a:latin typeface="SegoeUIVariable"/>
              </a:rPr>
              <a:t> </a:t>
            </a:r>
            <a:r>
              <a:rPr lang="en-US" b="1" i="0" dirty="0">
                <a:effectLst/>
                <a:latin typeface="SegoeUIVariable"/>
              </a:rPr>
              <a:t>Pet Psychologist: Role and Responsibilities</a:t>
            </a:r>
            <a:endParaRPr lang="en-US" b="0" i="0" dirty="0">
              <a:effectLst/>
              <a:latin typeface="SegoeUIVariable"/>
            </a:endParaRPr>
          </a:p>
          <a:p>
            <a:pPr algn="l"/>
            <a:r>
              <a:rPr lang="en-US" b="1" i="0" dirty="0">
                <a:effectLst/>
                <a:latin typeface="SegoeUIVariable"/>
              </a:rPr>
              <a:t>Content:</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Introduction:</a:t>
            </a:r>
            <a:endParaRPr lang="en-US" b="0" i="0" dirty="0">
              <a:effectLst/>
              <a:latin typeface="SegoeUIVariable"/>
            </a:endParaRPr>
          </a:p>
          <a:p>
            <a:pPr marL="742950" lvl="1" indent="-285750" algn="l">
              <a:buFont typeface="Arial" panose="020B0604020202020204" pitchFamily="34" charset="0"/>
              <a:buChar char="•"/>
            </a:pPr>
            <a:r>
              <a:rPr lang="en-US" b="0" i="0" dirty="0">
                <a:effectLst/>
                <a:latin typeface="SegoeUIVariable"/>
              </a:rPr>
              <a:t>A Pet Psychologist works with animals to address behavioral issues and improve their well-being.</a:t>
            </a:r>
          </a:p>
          <a:p>
            <a:pPr marL="742950" lvl="1" indent="-285750" algn="l">
              <a:buFont typeface="Arial" panose="020B0604020202020204" pitchFamily="34" charset="0"/>
              <a:buChar char="•"/>
            </a:pPr>
            <a:r>
              <a:rPr lang="en-US" b="0" i="0" dirty="0">
                <a:effectLst/>
                <a:latin typeface="SegoeUIVariable"/>
              </a:rPr>
              <a:t>They help pets and their owners understand and resolve problems such as anxiety, aggression, and stress.</a:t>
            </a:r>
          </a:p>
          <a:p>
            <a:pPr algn="l">
              <a:buFont typeface="Arial" panose="020B0604020202020204" pitchFamily="34" charset="0"/>
              <a:buChar char="•"/>
            </a:pPr>
            <a:r>
              <a:rPr lang="en-US" b="1" i="0" dirty="0">
                <a:effectLst/>
                <a:latin typeface="SegoeUIVariable"/>
              </a:rPr>
              <a:t>Key Responsibilities:</a:t>
            </a:r>
            <a:endParaRPr lang="en-US" b="0" i="0" dirty="0">
              <a:effectLst/>
              <a:latin typeface="SegoeUIVariable"/>
            </a:endParaRPr>
          </a:p>
          <a:p>
            <a:pPr marL="742950" lvl="1" indent="-285750" algn="l">
              <a:buFont typeface="Arial" panose="020B0604020202020204" pitchFamily="34" charset="0"/>
              <a:buChar char="•"/>
            </a:pPr>
            <a:r>
              <a:rPr lang="en-US" b="1" i="0" dirty="0">
                <a:effectLst/>
                <a:latin typeface="SegoeUIVariable"/>
              </a:rPr>
              <a:t>Behavioral Assessment:</a:t>
            </a:r>
            <a:r>
              <a:rPr lang="en-US" b="0" i="0" dirty="0">
                <a:effectLst/>
                <a:latin typeface="SegoeUIVariable"/>
              </a:rPr>
              <a:t> Evaluate pets to identify behavioral issues and their causes.</a:t>
            </a:r>
          </a:p>
          <a:p>
            <a:pPr marL="742950" lvl="1" indent="-285750" algn="l">
              <a:buFont typeface="Arial" panose="020B0604020202020204" pitchFamily="34" charset="0"/>
              <a:buChar char="•"/>
            </a:pPr>
            <a:r>
              <a:rPr lang="en-US" b="1" i="0" dirty="0">
                <a:effectLst/>
                <a:latin typeface="SegoeUIVariable"/>
              </a:rPr>
              <a:t>Treatment Plans:</a:t>
            </a:r>
            <a:r>
              <a:rPr lang="en-US" b="0" i="0" dirty="0">
                <a:effectLst/>
                <a:latin typeface="SegoeUIVariable"/>
              </a:rPr>
              <a:t> Develop and implement strategies to modify undesirable behaviors.</a:t>
            </a:r>
          </a:p>
          <a:p>
            <a:pPr marL="742950" lvl="1" indent="-285750" algn="l">
              <a:buFont typeface="Arial" panose="020B0604020202020204" pitchFamily="34" charset="0"/>
              <a:buChar char="•"/>
            </a:pPr>
            <a:r>
              <a:rPr lang="en-US" b="1" i="0" dirty="0">
                <a:effectLst/>
                <a:latin typeface="SegoeUIVariable"/>
              </a:rPr>
              <a:t>Owner Education:</a:t>
            </a:r>
            <a:r>
              <a:rPr lang="en-US" b="0" i="0" dirty="0">
                <a:effectLst/>
                <a:latin typeface="SegoeUIVariable"/>
              </a:rPr>
              <a:t> Teach pet owners how to manage and improve their pets’ behavior.</a:t>
            </a:r>
          </a:p>
          <a:p>
            <a:pPr marL="742950" lvl="1" indent="-285750" algn="l">
              <a:buFont typeface="Arial" panose="020B0604020202020204" pitchFamily="34" charset="0"/>
              <a:buChar char="•"/>
            </a:pPr>
            <a:r>
              <a:rPr lang="en-US" b="1" i="0" dirty="0">
                <a:effectLst/>
                <a:latin typeface="SegoeUIVariable"/>
              </a:rPr>
              <a:t>Collaboration:</a:t>
            </a:r>
            <a:r>
              <a:rPr lang="en-US" b="0" i="0" dirty="0">
                <a:effectLst/>
                <a:latin typeface="SegoeUIVariable"/>
              </a:rPr>
              <a:t> Work with veterinarians and other professionals to ensure comprehensive care.</a:t>
            </a:r>
          </a:p>
          <a:p>
            <a:pPr marL="742950" lvl="1" indent="-285750" algn="l">
              <a:buFont typeface="Arial" panose="020B0604020202020204" pitchFamily="34" charset="0"/>
              <a:buChar char="•"/>
            </a:pPr>
            <a:r>
              <a:rPr lang="en-US" b="1" i="0" dirty="0">
                <a:effectLst/>
                <a:latin typeface="SegoeUIVariable"/>
              </a:rPr>
              <a:t>Research:</a:t>
            </a:r>
            <a:r>
              <a:rPr lang="en-US" b="0" i="0" dirty="0">
                <a:effectLst/>
                <a:latin typeface="SegoeUIVariable"/>
              </a:rPr>
              <a:t> Study animal behavior to develop new treatment methods and improve existing ones.</a:t>
            </a:r>
          </a:p>
          <a:p>
            <a:endParaRPr lang="ru-UA" dirty="0"/>
          </a:p>
        </p:txBody>
      </p:sp>
      <p:sp>
        <p:nvSpPr>
          <p:cNvPr id="4" name="Номер слайда 3"/>
          <p:cNvSpPr>
            <a:spLocks noGrp="1"/>
          </p:cNvSpPr>
          <p:nvPr>
            <p:ph type="sldNum" sz="quarter" idx="5"/>
          </p:nvPr>
        </p:nvSpPr>
        <p:spPr/>
        <p:txBody>
          <a:bodyPr/>
          <a:lstStyle/>
          <a:p>
            <a:fld id="{CFD8980F-24FD-4994-BA77-50894EA02227}" type="slidenum">
              <a:rPr lang="ru-UA" smtClean="0"/>
              <a:t>4</a:t>
            </a:fld>
            <a:endParaRPr lang="ru-UA"/>
          </a:p>
        </p:txBody>
      </p:sp>
    </p:spTree>
    <p:extLst>
      <p:ext uri="{BB962C8B-B14F-4D97-AF65-F5344CB8AC3E}">
        <p14:creationId xmlns:p14="http://schemas.microsoft.com/office/powerpoint/2010/main" val="1351963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en-US" b="1" i="0" dirty="0">
                <a:effectLst/>
                <a:latin typeface="SegoeUIVariable"/>
              </a:rPr>
              <a:t>Work Settings:</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Private Practice:</a:t>
            </a:r>
            <a:r>
              <a:rPr lang="en-US" b="0" i="0" dirty="0">
                <a:effectLst/>
                <a:latin typeface="SegoeUIVariable"/>
              </a:rPr>
              <a:t> Offering consultations and therapy sessions for pets and their owners.</a:t>
            </a:r>
          </a:p>
          <a:p>
            <a:pPr algn="l">
              <a:buFont typeface="Arial" panose="020B0604020202020204" pitchFamily="34" charset="0"/>
              <a:buChar char="•"/>
            </a:pPr>
            <a:r>
              <a:rPr lang="en-US" b="1" i="0" dirty="0">
                <a:effectLst/>
                <a:latin typeface="SegoeUIVariable"/>
              </a:rPr>
              <a:t>Veterinary Clinics:</a:t>
            </a:r>
            <a:r>
              <a:rPr lang="en-US" b="0" i="0" dirty="0">
                <a:effectLst/>
                <a:latin typeface="SegoeUIVariable"/>
              </a:rPr>
              <a:t> Collaborating with veterinarians to provide comprehensive care.</a:t>
            </a:r>
          </a:p>
          <a:p>
            <a:pPr algn="l">
              <a:buFont typeface="Arial" panose="020B0604020202020204" pitchFamily="34" charset="0"/>
              <a:buChar char="•"/>
            </a:pPr>
            <a:r>
              <a:rPr lang="en-US" b="1" i="0" dirty="0">
                <a:effectLst/>
                <a:latin typeface="SegoeUIVariable"/>
              </a:rPr>
              <a:t>Animal Shelters:</a:t>
            </a:r>
            <a:r>
              <a:rPr lang="en-US" b="0" i="0" dirty="0">
                <a:effectLst/>
                <a:latin typeface="SegoeUIVariable"/>
              </a:rPr>
              <a:t> Helping shelter animals adjust and become more adoptable.</a:t>
            </a:r>
          </a:p>
          <a:p>
            <a:pPr algn="l">
              <a:buFont typeface="Arial" panose="020B0604020202020204" pitchFamily="34" charset="0"/>
              <a:buChar char="•"/>
            </a:pPr>
            <a:r>
              <a:rPr lang="en-US" b="1" i="0" dirty="0">
                <a:effectLst/>
                <a:latin typeface="SegoeUIVariable"/>
              </a:rPr>
              <a:t>Zoos and Aquariums:</a:t>
            </a:r>
            <a:r>
              <a:rPr lang="en-US" b="0" i="0" dirty="0">
                <a:effectLst/>
                <a:latin typeface="SegoeUIVariable"/>
              </a:rPr>
              <a:t> Working with a variety of species to ensure their mental well-being.</a:t>
            </a:r>
          </a:p>
          <a:p>
            <a:pPr algn="l"/>
            <a:r>
              <a:rPr lang="en-US" b="1" i="0" dirty="0">
                <a:effectLst/>
                <a:latin typeface="SegoeUIVariable"/>
              </a:rPr>
              <a:t>Skills Required:</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Empathy and Patience:</a:t>
            </a:r>
            <a:r>
              <a:rPr lang="en-US" b="0" i="0" dirty="0">
                <a:effectLst/>
                <a:latin typeface="SegoeUIVariable"/>
              </a:rPr>
              <a:t> Essential for working with both animals and their owners.</a:t>
            </a:r>
          </a:p>
          <a:p>
            <a:pPr algn="l">
              <a:buFont typeface="Arial" panose="020B0604020202020204" pitchFamily="34" charset="0"/>
              <a:buChar char="•"/>
            </a:pPr>
            <a:r>
              <a:rPr lang="en-US" b="1" i="0" dirty="0">
                <a:effectLst/>
                <a:latin typeface="SegoeUIVariable"/>
              </a:rPr>
              <a:t>Analytical Skills:</a:t>
            </a:r>
            <a:r>
              <a:rPr lang="en-US" b="0" i="0" dirty="0">
                <a:effectLst/>
                <a:latin typeface="SegoeUIVariable"/>
              </a:rPr>
              <a:t> Important for diagnosing behavioral issues and developing effective treatment plans.</a:t>
            </a:r>
          </a:p>
          <a:p>
            <a:pPr algn="l">
              <a:buFont typeface="Arial" panose="020B0604020202020204" pitchFamily="34" charset="0"/>
              <a:buChar char="•"/>
            </a:pPr>
            <a:r>
              <a:rPr lang="en-US" b="1" i="0" dirty="0">
                <a:effectLst/>
                <a:latin typeface="SegoeUIVariable"/>
              </a:rPr>
              <a:t>Communication Skills:</a:t>
            </a:r>
            <a:r>
              <a:rPr lang="en-US" b="0" i="0" dirty="0">
                <a:effectLst/>
                <a:latin typeface="SegoeUIVariable"/>
              </a:rPr>
              <a:t> Necessary for educating pet owners and collaborating with other professionals.</a:t>
            </a:r>
          </a:p>
          <a:p>
            <a:pPr algn="l"/>
            <a:r>
              <a:rPr lang="en-US" b="1" i="0" dirty="0">
                <a:effectLst/>
                <a:latin typeface="SegoeUIVariable"/>
              </a:rPr>
              <a:t>Educational Path:</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Degree in Psychology or Animal Behavior:</a:t>
            </a:r>
            <a:r>
              <a:rPr lang="en-US" b="0" i="0" dirty="0">
                <a:effectLst/>
                <a:latin typeface="SegoeUIVariable"/>
              </a:rPr>
              <a:t> A bachelor’s degree is typically required, with advanced degrees (master’s or doctorate) preferred for specialized roles.</a:t>
            </a:r>
          </a:p>
          <a:p>
            <a:pPr algn="l">
              <a:buFont typeface="Arial" panose="020B0604020202020204" pitchFamily="34" charset="0"/>
              <a:buChar char="•"/>
            </a:pPr>
            <a:r>
              <a:rPr lang="en-US" b="1" i="0" dirty="0">
                <a:effectLst/>
                <a:latin typeface="SegoeUIVariable"/>
              </a:rPr>
              <a:t>Certifications:</a:t>
            </a:r>
            <a:r>
              <a:rPr lang="en-US" b="0" i="0" dirty="0">
                <a:effectLst/>
                <a:latin typeface="SegoeUIVariable"/>
              </a:rPr>
              <a:t> Additional certifications in animal behavior or related fields can enhance career prospects.</a:t>
            </a:r>
          </a:p>
          <a:p>
            <a:endParaRPr lang="ru-UA" dirty="0"/>
          </a:p>
          <a:p>
            <a:pPr algn="l"/>
            <a:endParaRPr lang="ru-UA" dirty="0"/>
          </a:p>
        </p:txBody>
      </p:sp>
      <p:sp>
        <p:nvSpPr>
          <p:cNvPr id="4" name="Номер слайда 3"/>
          <p:cNvSpPr>
            <a:spLocks noGrp="1"/>
          </p:cNvSpPr>
          <p:nvPr>
            <p:ph type="sldNum" sz="quarter" idx="5"/>
          </p:nvPr>
        </p:nvSpPr>
        <p:spPr/>
        <p:txBody>
          <a:bodyPr/>
          <a:lstStyle/>
          <a:p>
            <a:fld id="{CFD8980F-24FD-4994-BA77-50894EA02227}" type="slidenum">
              <a:rPr lang="ru-UA" smtClean="0"/>
              <a:t>5</a:t>
            </a:fld>
            <a:endParaRPr lang="ru-UA"/>
          </a:p>
        </p:txBody>
      </p:sp>
    </p:spTree>
    <p:extLst>
      <p:ext uri="{BB962C8B-B14F-4D97-AF65-F5344CB8AC3E}">
        <p14:creationId xmlns:p14="http://schemas.microsoft.com/office/powerpoint/2010/main" val="2389414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en-US" b="1" i="0" dirty="0">
                <a:effectLst/>
                <a:latin typeface="SegoeUIVariable"/>
              </a:rPr>
              <a:t>Dog Food Taster</a:t>
            </a:r>
          </a:p>
          <a:p>
            <a:pPr algn="l"/>
            <a:r>
              <a:rPr lang="en-US" b="0" i="0" dirty="0">
                <a:solidFill>
                  <a:srgbClr val="222222"/>
                </a:solidFill>
                <a:effectLst/>
                <a:latin typeface="sofia-pro-bold"/>
              </a:rPr>
              <a:t>Earning potential: </a:t>
            </a:r>
            <a:r>
              <a:rPr lang="en-US" b="0" i="0" dirty="0">
                <a:solidFill>
                  <a:srgbClr val="222222"/>
                </a:solidFill>
                <a:effectLst/>
                <a:latin typeface="sofia-pro-light"/>
              </a:rPr>
              <a:t>$45,000 per year</a:t>
            </a:r>
            <a:endParaRPr lang="en-US" b="1" i="0" dirty="0">
              <a:effectLst/>
              <a:latin typeface="SegoeUIVariable"/>
            </a:endParaRPr>
          </a:p>
          <a:p>
            <a:pPr algn="l"/>
            <a:r>
              <a:rPr lang="en-US" b="1" i="0" dirty="0">
                <a:effectLst/>
                <a:latin typeface="SegoeUIVariable"/>
              </a:rPr>
              <a:t>Role Overview:</a:t>
            </a:r>
            <a:r>
              <a:rPr lang="en-US" b="0" i="0" dirty="0">
                <a:effectLst/>
                <a:latin typeface="SegoeUIVariable"/>
              </a:rPr>
              <a:t> A Dog Food Taster plays a unique role in the pet food industry by evaluating the taste, texture, and smell of dog food to ensure it meets quality and flavor standards. This job helps ensure that pet food is both nutritious and appealing to dogs.</a:t>
            </a:r>
          </a:p>
          <a:p>
            <a:pPr algn="l"/>
            <a:r>
              <a:rPr lang="en-US" b="1" i="0" dirty="0">
                <a:effectLst/>
                <a:latin typeface="SegoeUIVariable"/>
              </a:rPr>
              <a:t>Key Responsibilities:</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Taste Testing:</a:t>
            </a:r>
            <a:r>
              <a:rPr lang="en-US" b="0" i="0" dirty="0">
                <a:effectLst/>
                <a:latin typeface="SegoeUIVariable"/>
              </a:rPr>
              <a:t> Sampling dog food to assess its flavor, texture, and smell. While they don’t swallow the food, they provide detailed feedback on its palatability.</a:t>
            </a:r>
          </a:p>
          <a:p>
            <a:pPr algn="l">
              <a:buFont typeface="Arial" panose="020B0604020202020204" pitchFamily="34" charset="0"/>
              <a:buChar char="•"/>
            </a:pPr>
            <a:r>
              <a:rPr lang="en-US" b="1" i="0" dirty="0">
                <a:effectLst/>
                <a:latin typeface="SegoeUIVariable"/>
              </a:rPr>
              <a:t>Quality Assurance:</a:t>
            </a:r>
            <a:r>
              <a:rPr lang="en-US" b="0" i="0" dirty="0">
                <a:effectLst/>
                <a:latin typeface="SegoeUIVariable"/>
              </a:rPr>
              <a:t> Ensuring that the dog food meets nutritional standards and is safe for consumption.</a:t>
            </a:r>
          </a:p>
          <a:p>
            <a:pPr algn="l">
              <a:buFont typeface="Arial" panose="020B0604020202020204" pitchFamily="34" charset="0"/>
              <a:buChar char="•"/>
            </a:pPr>
            <a:r>
              <a:rPr lang="en-US" b="1" i="0" dirty="0">
                <a:effectLst/>
                <a:latin typeface="SegoeUIVariable"/>
              </a:rPr>
              <a:t>Product Development:</a:t>
            </a:r>
            <a:r>
              <a:rPr lang="en-US" b="0" i="0" dirty="0">
                <a:effectLst/>
                <a:latin typeface="SegoeUIVariable"/>
              </a:rPr>
              <a:t> Collaborating with veterinarians, nutritionists, and product developers to improve existing products and develop new ones.</a:t>
            </a:r>
          </a:p>
          <a:p>
            <a:pPr algn="l">
              <a:buFont typeface="Arial" panose="020B0604020202020204" pitchFamily="34" charset="0"/>
              <a:buChar char="•"/>
            </a:pPr>
            <a:r>
              <a:rPr lang="en-US" b="1" i="0" dirty="0">
                <a:effectLst/>
                <a:latin typeface="SegoeUIVariable"/>
              </a:rPr>
              <a:t>Documentation:</a:t>
            </a:r>
            <a:r>
              <a:rPr lang="en-US" b="0" i="0" dirty="0">
                <a:effectLst/>
                <a:latin typeface="SegoeUIVariable"/>
              </a:rPr>
              <a:t> Recording observations and feedback to help refine and enhance pet food products.</a:t>
            </a:r>
          </a:p>
          <a:p>
            <a:pPr algn="l">
              <a:buFont typeface="Arial" panose="020B0604020202020204" pitchFamily="34" charset="0"/>
              <a:buChar char="•"/>
            </a:pPr>
            <a:r>
              <a:rPr lang="en-US" b="1" i="0" dirty="0">
                <a:effectLst/>
                <a:latin typeface="SegoeUIVariable"/>
              </a:rPr>
              <a:t>Research:</a:t>
            </a:r>
            <a:r>
              <a:rPr lang="en-US" b="0" i="0" dirty="0">
                <a:effectLst/>
                <a:latin typeface="SegoeUIVariable"/>
              </a:rPr>
              <a:t> Staying informed about the latest trends and research in pet nutrition to ensure the products are up-to-date and competitive.</a:t>
            </a:r>
          </a:p>
          <a:p>
            <a:pPr algn="l"/>
            <a:endParaRPr lang="ru-UA" dirty="0"/>
          </a:p>
        </p:txBody>
      </p:sp>
      <p:sp>
        <p:nvSpPr>
          <p:cNvPr id="4" name="Номер слайда 3"/>
          <p:cNvSpPr>
            <a:spLocks noGrp="1"/>
          </p:cNvSpPr>
          <p:nvPr>
            <p:ph type="sldNum" sz="quarter" idx="5"/>
          </p:nvPr>
        </p:nvSpPr>
        <p:spPr/>
        <p:txBody>
          <a:bodyPr/>
          <a:lstStyle/>
          <a:p>
            <a:fld id="{CFD8980F-24FD-4994-BA77-50894EA02227}" type="slidenum">
              <a:rPr lang="ru-UA" smtClean="0"/>
              <a:t>6</a:t>
            </a:fld>
            <a:endParaRPr lang="ru-UA"/>
          </a:p>
        </p:txBody>
      </p:sp>
    </p:spTree>
    <p:extLst>
      <p:ext uri="{BB962C8B-B14F-4D97-AF65-F5344CB8AC3E}">
        <p14:creationId xmlns:p14="http://schemas.microsoft.com/office/powerpoint/2010/main" val="5327131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algn="l"/>
            <a:r>
              <a:rPr lang="en-US" b="1" i="0" dirty="0">
                <a:effectLst/>
                <a:latin typeface="SegoeUIVariable"/>
              </a:rPr>
              <a:t>Work Settings:</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Pet Food Companies:</a:t>
            </a:r>
            <a:r>
              <a:rPr lang="en-US" b="0" i="0" dirty="0">
                <a:effectLst/>
                <a:latin typeface="SegoeUIVariable"/>
              </a:rPr>
              <a:t> Working in laboratories or production facilities to test and develop pet food products.</a:t>
            </a:r>
          </a:p>
          <a:p>
            <a:pPr algn="l">
              <a:buFont typeface="Arial" panose="020B0604020202020204" pitchFamily="34" charset="0"/>
              <a:buChar char="•"/>
            </a:pPr>
            <a:r>
              <a:rPr lang="en-US" b="1" i="0" dirty="0">
                <a:effectLst/>
                <a:latin typeface="SegoeUIVariable"/>
              </a:rPr>
              <a:t>Research Institutions:</a:t>
            </a:r>
            <a:r>
              <a:rPr lang="en-US" b="0" i="0" dirty="0">
                <a:effectLst/>
                <a:latin typeface="SegoeUIVariable"/>
              </a:rPr>
              <a:t> Participating in studies related to pet nutrition and food safety.</a:t>
            </a:r>
          </a:p>
          <a:p>
            <a:pPr algn="l"/>
            <a:r>
              <a:rPr lang="en-US" b="1" i="0" dirty="0">
                <a:effectLst/>
                <a:latin typeface="SegoeUIVariable"/>
              </a:rPr>
              <a:t>Skills Required:</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Keen Sense of Taste and Smell:</a:t>
            </a:r>
            <a:r>
              <a:rPr lang="en-US" b="0" i="0" dirty="0">
                <a:effectLst/>
                <a:latin typeface="SegoeUIVariable"/>
              </a:rPr>
              <a:t> Essential for accurately evaluating the flavor and aroma of dog food.</a:t>
            </a:r>
          </a:p>
          <a:p>
            <a:pPr algn="l">
              <a:buFont typeface="Arial" panose="020B0604020202020204" pitchFamily="34" charset="0"/>
              <a:buChar char="•"/>
            </a:pPr>
            <a:r>
              <a:rPr lang="en-US" b="1" i="0" dirty="0">
                <a:effectLst/>
                <a:latin typeface="SegoeUIVariable"/>
              </a:rPr>
              <a:t>Attention to Detail:</a:t>
            </a:r>
            <a:r>
              <a:rPr lang="en-US" b="0" i="0" dirty="0">
                <a:effectLst/>
                <a:latin typeface="SegoeUIVariable"/>
              </a:rPr>
              <a:t> Important for identifying subtle differences in taste and texture.</a:t>
            </a:r>
          </a:p>
          <a:p>
            <a:pPr algn="l">
              <a:buFont typeface="Arial" panose="020B0604020202020204" pitchFamily="34" charset="0"/>
              <a:buChar char="•"/>
            </a:pPr>
            <a:r>
              <a:rPr lang="en-US" b="1" i="0" dirty="0">
                <a:effectLst/>
                <a:latin typeface="SegoeUIVariable"/>
              </a:rPr>
              <a:t>Communication Skills:</a:t>
            </a:r>
            <a:r>
              <a:rPr lang="en-US" b="0" i="0" dirty="0">
                <a:effectLst/>
                <a:latin typeface="SegoeUIVariable"/>
              </a:rPr>
              <a:t> Necessary for providing clear and detailed feedback to the development team.</a:t>
            </a:r>
          </a:p>
          <a:p>
            <a:pPr algn="l">
              <a:buFont typeface="Arial" panose="020B0604020202020204" pitchFamily="34" charset="0"/>
              <a:buChar char="•"/>
            </a:pPr>
            <a:r>
              <a:rPr lang="en-US" b="1" i="0" dirty="0">
                <a:effectLst/>
                <a:latin typeface="SegoeUIVariable"/>
              </a:rPr>
              <a:t>Passion for Pets:</a:t>
            </a:r>
            <a:r>
              <a:rPr lang="en-US" b="0" i="0" dirty="0">
                <a:effectLst/>
                <a:latin typeface="SegoeUIVariable"/>
              </a:rPr>
              <a:t> A genuine interest in animal health and nutrition.</a:t>
            </a:r>
          </a:p>
          <a:p>
            <a:pPr algn="l"/>
            <a:r>
              <a:rPr lang="en-US" b="1" i="0" dirty="0">
                <a:effectLst/>
                <a:latin typeface="SegoeUIVariable"/>
              </a:rPr>
              <a:t>Educational Path:</a:t>
            </a:r>
            <a:endParaRPr lang="en-US" b="0" i="0" dirty="0">
              <a:effectLst/>
              <a:latin typeface="SegoeUIVariable"/>
            </a:endParaRPr>
          </a:p>
          <a:p>
            <a:pPr algn="l">
              <a:buFont typeface="Arial" panose="020B0604020202020204" pitchFamily="34" charset="0"/>
              <a:buChar char="•"/>
            </a:pPr>
            <a:r>
              <a:rPr lang="en-US" b="1" i="0" dirty="0">
                <a:effectLst/>
                <a:latin typeface="SegoeUIVariable"/>
              </a:rPr>
              <a:t>Degree in Food Science or Nutrition:</a:t>
            </a:r>
            <a:r>
              <a:rPr lang="en-US" b="0" i="0" dirty="0">
                <a:effectLst/>
                <a:latin typeface="SegoeUIVariable"/>
              </a:rPr>
              <a:t> A bachelor’s degree is typically required, with advanced degrees beneficial for specialized roles.</a:t>
            </a:r>
          </a:p>
          <a:p>
            <a:pPr algn="l">
              <a:buFont typeface="Arial" panose="020B0604020202020204" pitchFamily="34" charset="0"/>
              <a:buChar char="•"/>
            </a:pPr>
            <a:r>
              <a:rPr lang="en-US" b="1" i="0" dirty="0">
                <a:effectLst/>
                <a:latin typeface="SegoeUIVariable"/>
              </a:rPr>
              <a:t>Experience in the Food Industry:</a:t>
            </a:r>
            <a:r>
              <a:rPr lang="en-US" b="0" i="0" dirty="0">
                <a:effectLst/>
                <a:latin typeface="SegoeUIVariable"/>
              </a:rPr>
              <a:t> Previous experience in food tasting or quality assurance can be advantageous.</a:t>
            </a:r>
          </a:p>
          <a:p>
            <a:pPr algn="l"/>
            <a:endParaRPr lang="ru-UA" dirty="0"/>
          </a:p>
          <a:p>
            <a:pPr algn="l"/>
            <a:endParaRPr lang="ru-UA" dirty="0"/>
          </a:p>
        </p:txBody>
      </p:sp>
      <p:sp>
        <p:nvSpPr>
          <p:cNvPr id="4" name="Номер слайда 3"/>
          <p:cNvSpPr>
            <a:spLocks noGrp="1"/>
          </p:cNvSpPr>
          <p:nvPr>
            <p:ph type="sldNum" sz="quarter" idx="5"/>
          </p:nvPr>
        </p:nvSpPr>
        <p:spPr/>
        <p:txBody>
          <a:bodyPr/>
          <a:lstStyle/>
          <a:p>
            <a:fld id="{CFD8980F-24FD-4994-BA77-50894EA02227}" type="slidenum">
              <a:rPr lang="ru-UA" smtClean="0"/>
              <a:t>7</a:t>
            </a:fld>
            <a:endParaRPr lang="ru-UA"/>
          </a:p>
        </p:txBody>
      </p:sp>
    </p:spTree>
    <p:extLst>
      <p:ext uri="{BB962C8B-B14F-4D97-AF65-F5344CB8AC3E}">
        <p14:creationId xmlns:p14="http://schemas.microsoft.com/office/powerpoint/2010/main" val="976354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r>
              <a:rPr lang="en-US" b="0" i="0" dirty="0">
                <a:effectLst/>
                <a:latin typeface="SegoeUIVariable"/>
              </a:rPr>
              <a:t>Exploring unconventional careers like Pet Psychologist, Nursery Manager, and Dog Food Taster reveals the diverse opportunities available in the job market. These roles highlight the importance of specialized skills and passion in fields that may not be widely recognized but are crucial for animal welfare, plant cultivation, and pet nutrition. Each job offers unique challenges and rewards, demonstrating that following one’s interests can lead to fulfilling and impactful careers. Embracing these unusual professions can pave the way for innovation and excellence in their respective industries.</a:t>
            </a:r>
            <a:endParaRPr lang="ru-UA" dirty="0"/>
          </a:p>
        </p:txBody>
      </p:sp>
      <p:sp>
        <p:nvSpPr>
          <p:cNvPr id="4" name="Місце для номера слайда 3"/>
          <p:cNvSpPr>
            <a:spLocks noGrp="1"/>
          </p:cNvSpPr>
          <p:nvPr>
            <p:ph type="sldNum" sz="quarter" idx="5"/>
          </p:nvPr>
        </p:nvSpPr>
        <p:spPr/>
        <p:txBody>
          <a:bodyPr/>
          <a:lstStyle/>
          <a:p>
            <a:fld id="{CFD8980F-24FD-4994-BA77-50894EA02227}" type="slidenum">
              <a:rPr lang="ru-UA" smtClean="0"/>
              <a:t>8</a:t>
            </a:fld>
            <a:endParaRPr lang="ru-UA"/>
          </a:p>
        </p:txBody>
      </p:sp>
    </p:spTree>
    <p:extLst>
      <p:ext uri="{BB962C8B-B14F-4D97-AF65-F5344CB8AC3E}">
        <p14:creationId xmlns:p14="http://schemas.microsoft.com/office/powerpoint/2010/main" val="980069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C0BEBD4-793F-0A7C-5C0E-5232CF52AB3E}"/>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ru-UA"/>
          </a:p>
        </p:txBody>
      </p:sp>
      <p:sp>
        <p:nvSpPr>
          <p:cNvPr id="3" name="Подзаголовок 2">
            <a:extLst>
              <a:ext uri="{FF2B5EF4-FFF2-40B4-BE49-F238E27FC236}">
                <a16:creationId xmlns:a16="http://schemas.microsoft.com/office/drawing/2014/main" id="{79B776E4-FDB6-04A7-80B3-5122618907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ru-UA"/>
          </a:p>
        </p:txBody>
      </p:sp>
      <p:sp>
        <p:nvSpPr>
          <p:cNvPr id="4" name="Дата 3">
            <a:extLst>
              <a:ext uri="{FF2B5EF4-FFF2-40B4-BE49-F238E27FC236}">
                <a16:creationId xmlns:a16="http://schemas.microsoft.com/office/drawing/2014/main" id="{798B6D54-BDDC-F09B-97F0-16C7462535C1}"/>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5" name="Нижний колонтитул 4">
            <a:extLst>
              <a:ext uri="{FF2B5EF4-FFF2-40B4-BE49-F238E27FC236}">
                <a16:creationId xmlns:a16="http://schemas.microsoft.com/office/drawing/2014/main" id="{E76EB157-50F3-AC34-9BBA-9CA606FF61F1}"/>
              </a:ext>
            </a:extLst>
          </p:cNvPr>
          <p:cNvSpPr>
            <a:spLocks noGrp="1"/>
          </p:cNvSpPr>
          <p:nvPr>
            <p:ph type="ftr" sz="quarter" idx="11"/>
          </p:nvPr>
        </p:nvSpPr>
        <p:spPr/>
        <p:txBody>
          <a:bodyPr/>
          <a:lstStyle/>
          <a:p>
            <a:endParaRPr lang="ru-UA"/>
          </a:p>
        </p:txBody>
      </p:sp>
      <p:sp>
        <p:nvSpPr>
          <p:cNvPr id="6" name="Номер слайда 5">
            <a:extLst>
              <a:ext uri="{FF2B5EF4-FFF2-40B4-BE49-F238E27FC236}">
                <a16:creationId xmlns:a16="http://schemas.microsoft.com/office/drawing/2014/main" id="{E0A5077C-D566-1A3C-078C-B2C5C09F14EA}"/>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3138350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F8823B-0C1D-4494-1298-D3FCBAF5425C}"/>
              </a:ext>
            </a:extLst>
          </p:cNvPr>
          <p:cNvSpPr>
            <a:spLocks noGrp="1"/>
          </p:cNvSpPr>
          <p:nvPr>
            <p:ph type="title"/>
          </p:nvPr>
        </p:nvSpPr>
        <p:spPr/>
        <p:txBody>
          <a:bodyPr/>
          <a:lstStyle/>
          <a:p>
            <a:r>
              <a:rPr lang="ru-RU"/>
              <a:t>Образец заголовка</a:t>
            </a:r>
            <a:endParaRPr lang="ru-UA"/>
          </a:p>
        </p:txBody>
      </p:sp>
      <p:sp>
        <p:nvSpPr>
          <p:cNvPr id="3" name="Объект 2">
            <a:extLst>
              <a:ext uri="{FF2B5EF4-FFF2-40B4-BE49-F238E27FC236}">
                <a16:creationId xmlns:a16="http://schemas.microsoft.com/office/drawing/2014/main" id="{9B9253A2-C5EB-4569-AE17-E8BEE14AE9AC}"/>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4" name="Дата 3">
            <a:extLst>
              <a:ext uri="{FF2B5EF4-FFF2-40B4-BE49-F238E27FC236}">
                <a16:creationId xmlns:a16="http://schemas.microsoft.com/office/drawing/2014/main" id="{90DBF3FF-87F5-E4C8-E585-2B332C0E292D}"/>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5" name="Нижний колонтитул 4">
            <a:extLst>
              <a:ext uri="{FF2B5EF4-FFF2-40B4-BE49-F238E27FC236}">
                <a16:creationId xmlns:a16="http://schemas.microsoft.com/office/drawing/2014/main" id="{188B430C-0ADE-F920-B0AF-BA2419561608}"/>
              </a:ext>
            </a:extLst>
          </p:cNvPr>
          <p:cNvSpPr>
            <a:spLocks noGrp="1"/>
          </p:cNvSpPr>
          <p:nvPr>
            <p:ph type="ftr" sz="quarter" idx="11"/>
          </p:nvPr>
        </p:nvSpPr>
        <p:spPr/>
        <p:txBody>
          <a:bodyPr/>
          <a:lstStyle/>
          <a:p>
            <a:endParaRPr lang="ru-UA"/>
          </a:p>
        </p:txBody>
      </p:sp>
      <p:sp>
        <p:nvSpPr>
          <p:cNvPr id="6" name="Номер слайда 5">
            <a:extLst>
              <a:ext uri="{FF2B5EF4-FFF2-40B4-BE49-F238E27FC236}">
                <a16:creationId xmlns:a16="http://schemas.microsoft.com/office/drawing/2014/main" id="{C0333DE0-A608-C9CC-92D2-463EBCDACD27}"/>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1352782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5286D8-1F88-92B3-FF91-DACC3E29A90B}"/>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ru-UA"/>
          </a:p>
        </p:txBody>
      </p:sp>
      <p:sp>
        <p:nvSpPr>
          <p:cNvPr id="3" name="Текст 2">
            <a:extLst>
              <a:ext uri="{FF2B5EF4-FFF2-40B4-BE49-F238E27FC236}">
                <a16:creationId xmlns:a16="http://schemas.microsoft.com/office/drawing/2014/main" id="{4BE6EFA9-F979-966A-84A3-96724996EF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AD347997-A627-CBFB-0552-C54FAF47E16D}"/>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5" name="Нижний колонтитул 4">
            <a:extLst>
              <a:ext uri="{FF2B5EF4-FFF2-40B4-BE49-F238E27FC236}">
                <a16:creationId xmlns:a16="http://schemas.microsoft.com/office/drawing/2014/main" id="{2E6DC6AB-0226-F05A-D9CD-BAF3E16EF268}"/>
              </a:ext>
            </a:extLst>
          </p:cNvPr>
          <p:cNvSpPr>
            <a:spLocks noGrp="1"/>
          </p:cNvSpPr>
          <p:nvPr>
            <p:ph type="ftr" sz="quarter" idx="11"/>
          </p:nvPr>
        </p:nvSpPr>
        <p:spPr/>
        <p:txBody>
          <a:bodyPr/>
          <a:lstStyle/>
          <a:p>
            <a:endParaRPr lang="ru-UA"/>
          </a:p>
        </p:txBody>
      </p:sp>
      <p:sp>
        <p:nvSpPr>
          <p:cNvPr id="6" name="Номер слайда 5">
            <a:extLst>
              <a:ext uri="{FF2B5EF4-FFF2-40B4-BE49-F238E27FC236}">
                <a16:creationId xmlns:a16="http://schemas.microsoft.com/office/drawing/2014/main" id="{5695D2CC-22C9-3ACD-9A74-3809B9F1DEDD}"/>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2827013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00FDE9-85EB-67B6-F870-F5A834C22885}"/>
              </a:ext>
            </a:extLst>
          </p:cNvPr>
          <p:cNvSpPr>
            <a:spLocks noGrp="1"/>
          </p:cNvSpPr>
          <p:nvPr>
            <p:ph type="title"/>
          </p:nvPr>
        </p:nvSpPr>
        <p:spPr/>
        <p:txBody>
          <a:bodyPr/>
          <a:lstStyle/>
          <a:p>
            <a:r>
              <a:rPr lang="ru-RU"/>
              <a:t>Образец заголовка</a:t>
            </a:r>
            <a:endParaRPr lang="ru-UA"/>
          </a:p>
        </p:txBody>
      </p:sp>
      <p:sp>
        <p:nvSpPr>
          <p:cNvPr id="3" name="Объект 2">
            <a:extLst>
              <a:ext uri="{FF2B5EF4-FFF2-40B4-BE49-F238E27FC236}">
                <a16:creationId xmlns:a16="http://schemas.microsoft.com/office/drawing/2014/main" id="{2E7AF3AA-2042-290B-00FB-66DA34739B88}"/>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4" name="Объект 3">
            <a:extLst>
              <a:ext uri="{FF2B5EF4-FFF2-40B4-BE49-F238E27FC236}">
                <a16:creationId xmlns:a16="http://schemas.microsoft.com/office/drawing/2014/main" id="{293D467B-F9A7-1FA5-4CBD-D3684C25724F}"/>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5" name="Дата 4">
            <a:extLst>
              <a:ext uri="{FF2B5EF4-FFF2-40B4-BE49-F238E27FC236}">
                <a16:creationId xmlns:a16="http://schemas.microsoft.com/office/drawing/2014/main" id="{E4DF4A6E-5001-37AF-8332-1636BAEDE724}"/>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6" name="Нижний колонтитул 5">
            <a:extLst>
              <a:ext uri="{FF2B5EF4-FFF2-40B4-BE49-F238E27FC236}">
                <a16:creationId xmlns:a16="http://schemas.microsoft.com/office/drawing/2014/main" id="{2B3FF6E3-ADD8-3230-78E0-68808B832D03}"/>
              </a:ext>
            </a:extLst>
          </p:cNvPr>
          <p:cNvSpPr>
            <a:spLocks noGrp="1"/>
          </p:cNvSpPr>
          <p:nvPr>
            <p:ph type="ftr" sz="quarter" idx="11"/>
          </p:nvPr>
        </p:nvSpPr>
        <p:spPr/>
        <p:txBody>
          <a:bodyPr/>
          <a:lstStyle/>
          <a:p>
            <a:endParaRPr lang="ru-UA"/>
          </a:p>
        </p:txBody>
      </p:sp>
      <p:sp>
        <p:nvSpPr>
          <p:cNvPr id="7" name="Номер слайда 6">
            <a:extLst>
              <a:ext uri="{FF2B5EF4-FFF2-40B4-BE49-F238E27FC236}">
                <a16:creationId xmlns:a16="http://schemas.microsoft.com/office/drawing/2014/main" id="{AFEF3CD1-7003-BF0B-7178-F24282A6DA80}"/>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39049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E70436-8A67-6B47-F870-E98820A2EF71}"/>
              </a:ext>
            </a:extLst>
          </p:cNvPr>
          <p:cNvSpPr>
            <a:spLocks noGrp="1"/>
          </p:cNvSpPr>
          <p:nvPr>
            <p:ph type="title"/>
          </p:nvPr>
        </p:nvSpPr>
        <p:spPr>
          <a:xfrm>
            <a:off x="839788" y="365125"/>
            <a:ext cx="10515600" cy="1325563"/>
          </a:xfrm>
        </p:spPr>
        <p:txBody>
          <a:bodyPr/>
          <a:lstStyle/>
          <a:p>
            <a:r>
              <a:rPr lang="ru-RU"/>
              <a:t>Образец заголовка</a:t>
            </a:r>
            <a:endParaRPr lang="ru-UA"/>
          </a:p>
        </p:txBody>
      </p:sp>
      <p:sp>
        <p:nvSpPr>
          <p:cNvPr id="3" name="Текст 2">
            <a:extLst>
              <a:ext uri="{FF2B5EF4-FFF2-40B4-BE49-F238E27FC236}">
                <a16:creationId xmlns:a16="http://schemas.microsoft.com/office/drawing/2014/main" id="{6F761EB1-3AFF-00FB-A5A6-9AB9652365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978570F0-F479-68D2-50D8-9B809480D0EE}"/>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5" name="Текст 4">
            <a:extLst>
              <a:ext uri="{FF2B5EF4-FFF2-40B4-BE49-F238E27FC236}">
                <a16:creationId xmlns:a16="http://schemas.microsoft.com/office/drawing/2014/main" id="{D79B6FFB-ED0A-537D-318D-B75F5882BE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747F9B08-48F9-5B4B-EFC3-65C44A270564}"/>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7" name="Дата 6">
            <a:extLst>
              <a:ext uri="{FF2B5EF4-FFF2-40B4-BE49-F238E27FC236}">
                <a16:creationId xmlns:a16="http://schemas.microsoft.com/office/drawing/2014/main" id="{1AF1C9DF-4AD5-8CE7-B98F-4D46E161FF40}"/>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8" name="Нижний колонтитул 7">
            <a:extLst>
              <a:ext uri="{FF2B5EF4-FFF2-40B4-BE49-F238E27FC236}">
                <a16:creationId xmlns:a16="http://schemas.microsoft.com/office/drawing/2014/main" id="{E32D5401-CA20-B232-97CD-B9A218F4675F}"/>
              </a:ext>
            </a:extLst>
          </p:cNvPr>
          <p:cNvSpPr>
            <a:spLocks noGrp="1"/>
          </p:cNvSpPr>
          <p:nvPr>
            <p:ph type="ftr" sz="quarter" idx="11"/>
          </p:nvPr>
        </p:nvSpPr>
        <p:spPr/>
        <p:txBody>
          <a:bodyPr/>
          <a:lstStyle/>
          <a:p>
            <a:endParaRPr lang="ru-UA"/>
          </a:p>
        </p:txBody>
      </p:sp>
      <p:sp>
        <p:nvSpPr>
          <p:cNvPr id="9" name="Номер слайда 8">
            <a:extLst>
              <a:ext uri="{FF2B5EF4-FFF2-40B4-BE49-F238E27FC236}">
                <a16:creationId xmlns:a16="http://schemas.microsoft.com/office/drawing/2014/main" id="{949EE808-8865-9726-92DF-27FBDCD97387}"/>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907447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B0C52E-9874-4D07-67DE-1E60E97BB3C0}"/>
              </a:ext>
            </a:extLst>
          </p:cNvPr>
          <p:cNvSpPr>
            <a:spLocks noGrp="1"/>
          </p:cNvSpPr>
          <p:nvPr>
            <p:ph type="title"/>
          </p:nvPr>
        </p:nvSpPr>
        <p:spPr/>
        <p:txBody>
          <a:bodyPr/>
          <a:lstStyle/>
          <a:p>
            <a:r>
              <a:rPr lang="ru-RU"/>
              <a:t>Образец заголовка</a:t>
            </a:r>
            <a:endParaRPr lang="ru-UA"/>
          </a:p>
        </p:txBody>
      </p:sp>
      <p:sp>
        <p:nvSpPr>
          <p:cNvPr id="3" name="Дата 2">
            <a:extLst>
              <a:ext uri="{FF2B5EF4-FFF2-40B4-BE49-F238E27FC236}">
                <a16:creationId xmlns:a16="http://schemas.microsoft.com/office/drawing/2014/main" id="{3795C03E-6BC6-FC5C-3E96-4E655AA553C5}"/>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4" name="Нижний колонтитул 3">
            <a:extLst>
              <a:ext uri="{FF2B5EF4-FFF2-40B4-BE49-F238E27FC236}">
                <a16:creationId xmlns:a16="http://schemas.microsoft.com/office/drawing/2014/main" id="{17A368E3-D0A2-B6EE-8088-D56AAA6F8594}"/>
              </a:ext>
            </a:extLst>
          </p:cNvPr>
          <p:cNvSpPr>
            <a:spLocks noGrp="1"/>
          </p:cNvSpPr>
          <p:nvPr>
            <p:ph type="ftr" sz="quarter" idx="11"/>
          </p:nvPr>
        </p:nvSpPr>
        <p:spPr/>
        <p:txBody>
          <a:bodyPr/>
          <a:lstStyle/>
          <a:p>
            <a:endParaRPr lang="ru-UA"/>
          </a:p>
        </p:txBody>
      </p:sp>
      <p:sp>
        <p:nvSpPr>
          <p:cNvPr id="5" name="Номер слайда 4">
            <a:extLst>
              <a:ext uri="{FF2B5EF4-FFF2-40B4-BE49-F238E27FC236}">
                <a16:creationId xmlns:a16="http://schemas.microsoft.com/office/drawing/2014/main" id="{D388FC59-455F-244D-86D3-3EB1FDE5F78B}"/>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40318121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F96D0D8-696F-F61B-526C-241489AA1482}"/>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3" name="Нижний колонтитул 2">
            <a:extLst>
              <a:ext uri="{FF2B5EF4-FFF2-40B4-BE49-F238E27FC236}">
                <a16:creationId xmlns:a16="http://schemas.microsoft.com/office/drawing/2014/main" id="{F7BE39E6-16D1-C83D-323C-68ED1C53F01E}"/>
              </a:ext>
            </a:extLst>
          </p:cNvPr>
          <p:cNvSpPr>
            <a:spLocks noGrp="1"/>
          </p:cNvSpPr>
          <p:nvPr>
            <p:ph type="ftr" sz="quarter" idx="11"/>
          </p:nvPr>
        </p:nvSpPr>
        <p:spPr/>
        <p:txBody>
          <a:bodyPr/>
          <a:lstStyle/>
          <a:p>
            <a:endParaRPr lang="ru-UA"/>
          </a:p>
        </p:txBody>
      </p:sp>
      <p:sp>
        <p:nvSpPr>
          <p:cNvPr id="4" name="Номер слайда 3">
            <a:extLst>
              <a:ext uri="{FF2B5EF4-FFF2-40B4-BE49-F238E27FC236}">
                <a16:creationId xmlns:a16="http://schemas.microsoft.com/office/drawing/2014/main" id="{D1000F17-41FA-A14A-A0C8-34AF16C4BEC5}"/>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4000868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FD86EB-7EA6-FCC8-4D71-D12345FFF13C}"/>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UA"/>
          </a:p>
        </p:txBody>
      </p:sp>
      <p:sp>
        <p:nvSpPr>
          <p:cNvPr id="3" name="Объект 2">
            <a:extLst>
              <a:ext uri="{FF2B5EF4-FFF2-40B4-BE49-F238E27FC236}">
                <a16:creationId xmlns:a16="http://schemas.microsoft.com/office/drawing/2014/main" id="{C1BFBA4C-10EA-094D-4267-1769B2273F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4" name="Текст 3">
            <a:extLst>
              <a:ext uri="{FF2B5EF4-FFF2-40B4-BE49-F238E27FC236}">
                <a16:creationId xmlns:a16="http://schemas.microsoft.com/office/drawing/2014/main" id="{243F785F-6905-5BD0-9BF4-9C4118841F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D8E9078-D709-CDC5-DF79-C44F5A46E049}"/>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6" name="Нижний колонтитул 5">
            <a:extLst>
              <a:ext uri="{FF2B5EF4-FFF2-40B4-BE49-F238E27FC236}">
                <a16:creationId xmlns:a16="http://schemas.microsoft.com/office/drawing/2014/main" id="{CA5419EA-BAC8-4832-DA33-3A306520A9CD}"/>
              </a:ext>
            </a:extLst>
          </p:cNvPr>
          <p:cNvSpPr>
            <a:spLocks noGrp="1"/>
          </p:cNvSpPr>
          <p:nvPr>
            <p:ph type="ftr" sz="quarter" idx="11"/>
          </p:nvPr>
        </p:nvSpPr>
        <p:spPr/>
        <p:txBody>
          <a:bodyPr/>
          <a:lstStyle/>
          <a:p>
            <a:endParaRPr lang="ru-UA"/>
          </a:p>
        </p:txBody>
      </p:sp>
      <p:sp>
        <p:nvSpPr>
          <p:cNvPr id="7" name="Номер слайда 6">
            <a:extLst>
              <a:ext uri="{FF2B5EF4-FFF2-40B4-BE49-F238E27FC236}">
                <a16:creationId xmlns:a16="http://schemas.microsoft.com/office/drawing/2014/main" id="{553B0C5B-5478-7FD1-1495-69E560DDF325}"/>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541149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F453536-6BB8-4388-1066-807CB2EBFD39}"/>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ru-UA"/>
          </a:p>
        </p:txBody>
      </p:sp>
      <p:sp>
        <p:nvSpPr>
          <p:cNvPr id="3" name="Рисунок 2">
            <a:extLst>
              <a:ext uri="{FF2B5EF4-FFF2-40B4-BE49-F238E27FC236}">
                <a16:creationId xmlns:a16="http://schemas.microsoft.com/office/drawing/2014/main" id="{F1A688F4-BE34-DF12-F0E9-AE25EBF8F5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UA"/>
          </a:p>
        </p:txBody>
      </p:sp>
      <p:sp>
        <p:nvSpPr>
          <p:cNvPr id="4" name="Текст 3">
            <a:extLst>
              <a:ext uri="{FF2B5EF4-FFF2-40B4-BE49-F238E27FC236}">
                <a16:creationId xmlns:a16="http://schemas.microsoft.com/office/drawing/2014/main" id="{A92842E3-44D7-4137-FB31-95D944EAC2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454411B-AA77-A669-D14D-FBD5EA5476BF}"/>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6" name="Нижний колонтитул 5">
            <a:extLst>
              <a:ext uri="{FF2B5EF4-FFF2-40B4-BE49-F238E27FC236}">
                <a16:creationId xmlns:a16="http://schemas.microsoft.com/office/drawing/2014/main" id="{C230B9BE-E704-4674-DB69-78C63B179347}"/>
              </a:ext>
            </a:extLst>
          </p:cNvPr>
          <p:cNvSpPr>
            <a:spLocks noGrp="1"/>
          </p:cNvSpPr>
          <p:nvPr>
            <p:ph type="ftr" sz="quarter" idx="11"/>
          </p:nvPr>
        </p:nvSpPr>
        <p:spPr/>
        <p:txBody>
          <a:bodyPr/>
          <a:lstStyle/>
          <a:p>
            <a:endParaRPr lang="ru-UA"/>
          </a:p>
        </p:txBody>
      </p:sp>
      <p:sp>
        <p:nvSpPr>
          <p:cNvPr id="7" name="Номер слайда 6">
            <a:extLst>
              <a:ext uri="{FF2B5EF4-FFF2-40B4-BE49-F238E27FC236}">
                <a16:creationId xmlns:a16="http://schemas.microsoft.com/office/drawing/2014/main" id="{72D299C5-375C-5AD2-FF62-C519E05EB35D}"/>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2425748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FCAACD0-A383-2485-E5FD-4974B1470A09}"/>
              </a:ext>
            </a:extLst>
          </p:cNvPr>
          <p:cNvSpPr>
            <a:spLocks noGrp="1"/>
          </p:cNvSpPr>
          <p:nvPr>
            <p:ph type="title"/>
          </p:nvPr>
        </p:nvSpPr>
        <p:spPr/>
        <p:txBody>
          <a:bodyPr/>
          <a:lstStyle/>
          <a:p>
            <a:r>
              <a:rPr lang="ru-RU"/>
              <a:t>Образец заголовка</a:t>
            </a:r>
            <a:endParaRPr lang="ru-UA"/>
          </a:p>
        </p:txBody>
      </p:sp>
      <p:sp>
        <p:nvSpPr>
          <p:cNvPr id="3" name="Вертикальный текст 2">
            <a:extLst>
              <a:ext uri="{FF2B5EF4-FFF2-40B4-BE49-F238E27FC236}">
                <a16:creationId xmlns:a16="http://schemas.microsoft.com/office/drawing/2014/main" id="{FE1C0158-4739-4F0C-4BF6-F48EBF106F66}"/>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4" name="Дата 3">
            <a:extLst>
              <a:ext uri="{FF2B5EF4-FFF2-40B4-BE49-F238E27FC236}">
                <a16:creationId xmlns:a16="http://schemas.microsoft.com/office/drawing/2014/main" id="{EE4F4C9B-3A88-1038-732D-F85E3BF6DE67}"/>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5" name="Нижний колонтитул 4">
            <a:extLst>
              <a:ext uri="{FF2B5EF4-FFF2-40B4-BE49-F238E27FC236}">
                <a16:creationId xmlns:a16="http://schemas.microsoft.com/office/drawing/2014/main" id="{F7C1112D-F143-0FFA-FE09-514BBE4C3691}"/>
              </a:ext>
            </a:extLst>
          </p:cNvPr>
          <p:cNvSpPr>
            <a:spLocks noGrp="1"/>
          </p:cNvSpPr>
          <p:nvPr>
            <p:ph type="ftr" sz="quarter" idx="11"/>
          </p:nvPr>
        </p:nvSpPr>
        <p:spPr/>
        <p:txBody>
          <a:bodyPr/>
          <a:lstStyle/>
          <a:p>
            <a:endParaRPr lang="ru-UA"/>
          </a:p>
        </p:txBody>
      </p:sp>
      <p:sp>
        <p:nvSpPr>
          <p:cNvPr id="6" name="Номер слайда 5">
            <a:extLst>
              <a:ext uri="{FF2B5EF4-FFF2-40B4-BE49-F238E27FC236}">
                <a16:creationId xmlns:a16="http://schemas.microsoft.com/office/drawing/2014/main" id="{AB795C3F-0E97-3F2F-6927-322A3D5B3387}"/>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1919478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0B6DDF44-CE74-15D8-7CDA-67636BD8386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ru-UA"/>
          </a:p>
        </p:txBody>
      </p:sp>
      <p:sp>
        <p:nvSpPr>
          <p:cNvPr id="3" name="Вертикальный текст 2">
            <a:extLst>
              <a:ext uri="{FF2B5EF4-FFF2-40B4-BE49-F238E27FC236}">
                <a16:creationId xmlns:a16="http://schemas.microsoft.com/office/drawing/2014/main" id="{99729BD4-81FA-27ED-E3B0-A387741E41E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4" name="Дата 3">
            <a:extLst>
              <a:ext uri="{FF2B5EF4-FFF2-40B4-BE49-F238E27FC236}">
                <a16:creationId xmlns:a16="http://schemas.microsoft.com/office/drawing/2014/main" id="{E177CDF5-C363-FE29-BE8E-9D34347DC75D}"/>
              </a:ext>
            </a:extLst>
          </p:cNvPr>
          <p:cNvSpPr>
            <a:spLocks noGrp="1"/>
          </p:cNvSpPr>
          <p:nvPr>
            <p:ph type="dt" sz="half" idx="10"/>
          </p:nvPr>
        </p:nvSpPr>
        <p:spPr/>
        <p:txBody>
          <a:bodyPr/>
          <a:lstStyle/>
          <a:p>
            <a:fld id="{F18E1503-35D3-4CAC-BFD4-40B25AB82A7C}" type="datetimeFigureOut">
              <a:rPr lang="ru-UA" smtClean="0"/>
              <a:t>22.09.2024</a:t>
            </a:fld>
            <a:endParaRPr lang="ru-UA"/>
          </a:p>
        </p:txBody>
      </p:sp>
      <p:sp>
        <p:nvSpPr>
          <p:cNvPr id="5" name="Нижний колонтитул 4">
            <a:extLst>
              <a:ext uri="{FF2B5EF4-FFF2-40B4-BE49-F238E27FC236}">
                <a16:creationId xmlns:a16="http://schemas.microsoft.com/office/drawing/2014/main" id="{BE77F9ED-9BA1-2865-A55F-4C7E600AEFC2}"/>
              </a:ext>
            </a:extLst>
          </p:cNvPr>
          <p:cNvSpPr>
            <a:spLocks noGrp="1"/>
          </p:cNvSpPr>
          <p:nvPr>
            <p:ph type="ftr" sz="quarter" idx="11"/>
          </p:nvPr>
        </p:nvSpPr>
        <p:spPr/>
        <p:txBody>
          <a:bodyPr/>
          <a:lstStyle/>
          <a:p>
            <a:endParaRPr lang="ru-UA"/>
          </a:p>
        </p:txBody>
      </p:sp>
      <p:sp>
        <p:nvSpPr>
          <p:cNvPr id="6" name="Номер слайда 5">
            <a:extLst>
              <a:ext uri="{FF2B5EF4-FFF2-40B4-BE49-F238E27FC236}">
                <a16:creationId xmlns:a16="http://schemas.microsoft.com/office/drawing/2014/main" id="{0F8EFDA5-CCB3-6D26-A31F-4E3E32AD9269}"/>
              </a:ext>
            </a:extLst>
          </p:cNvPr>
          <p:cNvSpPr>
            <a:spLocks noGrp="1"/>
          </p:cNvSpPr>
          <p:nvPr>
            <p:ph type="sldNum" sz="quarter" idx="12"/>
          </p:nvPr>
        </p:nvSpPr>
        <p:spPr/>
        <p:txBody>
          <a:bodyPr/>
          <a:lstStyle/>
          <a:p>
            <a:fld id="{8BE5DBF5-93B4-4887-A886-C33B4858146B}" type="slidenum">
              <a:rPr lang="ru-UA" smtClean="0"/>
              <a:t>‹№›</a:t>
            </a:fld>
            <a:endParaRPr lang="ru-UA"/>
          </a:p>
        </p:txBody>
      </p:sp>
    </p:spTree>
    <p:extLst>
      <p:ext uri="{BB962C8B-B14F-4D97-AF65-F5344CB8AC3E}">
        <p14:creationId xmlns:p14="http://schemas.microsoft.com/office/powerpoint/2010/main" val="505299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C156A33-C892-90B4-ACB7-DE57DD4517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ru-UA"/>
          </a:p>
        </p:txBody>
      </p:sp>
      <p:sp>
        <p:nvSpPr>
          <p:cNvPr id="3" name="Текст 2">
            <a:extLst>
              <a:ext uri="{FF2B5EF4-FFF2-40B4-BE49-F238E27FC236}">
                <a16:creationId xmlns:a16="http://schemas.microsoft.com/office/drawing/2014/main" id="{BFDF86F4-7D58-A146-D827-630760DE05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ru-UA"/>
          </a:p>
        </p:txBody>
      </p:sp>
      <p:sp>
        <p:nvSpPr>
          <p:cNvPr id="4" name="Дата 3">
            <a:extLst>
              <a:ext uri="{FF2B5EF4-FFF2-40B4-BE49-F238E27FC236}">
                <a16:creationId xmlns:a16="http://schemas.microsoft.com/office/drawing/2014/main" id="{C40D5D4F-6407-4EB2-BE66-A7BC452914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18E1503-35D3-4CAC-BFD4-40B25AB82A7C}" type="datetimeFigureOut">
              <a:rPr lang="ru-UA" smtClean="0"/>
              <a:t>22.09.2024</a:t>
            </a:fld>
            <a:endParaRPr lang="ru-UA"/>
          </a:p>
        </p:txBody>
      </p:sp>
      <p:sp>
        <p:nvSpPr>
          <p:cNvPr id="5" name="Нижний колонтитул 4">
            <a:extLst>
              <a:ext uri="{FF2B5EF4-FFF2-40B4-BE49-F238E27FC236}">
                <a16:creationId xmlns:a16="http://schemas.microsoft.com/office/drawing/2014/main" id="{20440C8C-233A-0C41-3FB7-FB43F9CD63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UA"/>
          </a:p>
        </p:txBody>
      </p:sp>
      <p:sp>
        <p:nvSpPr>
          <p:cNvPr id="6" name="Номер слайда 5">
            <a:extLst>
              <a:ext uri="{FF2B5EF4-FFF2-40B4-BE49-F238E27FC236}">
                <a16:creationId xmlns:a16="http://schemas.microsoft.com/office/drawing/2014/main" id="{219AE5CF-E208-19E5-91F2-E07A5B3EC0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E5DBF5-93B4-4887-A886-C33B4858146B}" type="slidenum">
              <a:rPr lang="ru-UA" smtClean="0"/>
              <a:t>‹№›</a:t>
            </a:fld>
            <a:endParaRPr lang="ru-UA"/>
          </a:p>
        </p:txBody>
      </p:sp>
    </p:spTree>
    <p:extLst>
      <p:ext uri="{BB962C8B-B14F-4D97-AF65-F5344CB8AC3E}">
        <p14:creationId xmlns:p14="http://schemas.microsoft.com/office/powerpoint/2010/main" val="461965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8.jpe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8" name="Picture 4" descr="Weird Unusual Odd Jobs Clipart Stock Vector - Illustration of careers,  sign: 69642623">
            <a:extLst>
              <a:ext uri="{FF2B5EF4-FFF2-40B4-BE49-F238E27FC236}">
                <a16:creationId xmlns:a16="http://schemas.microsoft.com/office/drawing/2014/main" id="{CA1D1D45-7078-9D90-9DFC-0C63461AE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 b="-3"/>
          <a:stretch/>
        </p:blipFill>
        <p:spPr bwMode="auto">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noFill/>
          <a:ln w="28575">
            <a:noFill/>
          </a:ln>
          <a:extLst>
            <a:ext uri="{909E8E84-426E-40DD-AFC4-6F175D3DCCD1}">
              <a14:hiddenFill xmlns:a14="http://schemas.microsoft.com/office/drawing/2010/main">
                <a:solidFill>
                  <a:srgbClr val="FFFFFF"/>
                </a:solidFill>
              </a14:hiddenFill>
            </a:ext>
          </a:extLst>
        </p:spPr>
      </p:pic>
      <p:grpSp>
        <p:nvGrpSpPr>
          <p:cNvPr id="1035" name="Group 1034">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1036" name="Freeform: Shape 1035">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037" name="Freeform: Shape 1036">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2" name="TextBox 1">
            <a:extLst>
              <a:ext uri="{FF2B5EF4-FFF2-40B4-BE49-F238E27FC236}">
                <a16:creationId xmlns:a16="http://schemas.microsoft.com/office/drawing/2014/main" id="{7B81D596-4208-309E-8FB1-34889E52545B}"/>
              </a:ext>
            </a:extLst>
          </p:cNvPr>
          <p:cNvSpPr txBox="1"/>
          <p:nvPr/>
        </p:nvSpPr>
        <p:spPr>
          <a:xfrm>
            <a:off x="6234868" y="1820369"/>
            <a:ext cx="5217173" cy="4351338"/>
          </a:xfrm>
          <a:prstGeom prst="rect">
            <a:avLst/>
          </a:prstGeom>
        </p:spPr>
        <p:txBody>
          <a:bodyPr vert="horz" lIns="91440" tIns="45720" rIns="91440" bIns="45720" rtlCol="0">
            <a:normAutofit/>
          </a:bodyPr>
          <a:lstStyle/>
          <a:p>
            <a:pPr indent="-228600">
              <a:lnSpc>
                <a:spcPct val="90000"/>
              </a:lnSpc>
              <a:spcBef>
                <a:spcPct val="0"/>
              </a:spcBef>
              <a:spcAft>
                <a:spcPts val="600"/>
              </a:spcAft>
              <a:buFont typeface="Arial" panose="020B0604020202020204" pitchFamily="34" charset="0"/>
              <a:buChar char="•"/>
            </a:pPr>
            <a:r>
              <a:rPr lang="en-US" b="1">
                <a:solidFill>
                  <a:schemeClr val="bg1"/>
                </a:solidFill>
              </a:rPr>
              <a:t>Presentation</a:t>
            </a:r>
          </a:p>
          <a:p>
            <a:pPr indent="-228600">
              <a:lnSpc>
                <a:spcPct val="90000"/>
              </a:lnSpc>
              <a:spcBef>
                <a:spcPct val="0"/>
              </a:spcBef>
              <a:spcAft>
                <a:spcPts val="600"/>
              </a:spcAft>
              <a:buFont typeface="Arial" panose="020B0604020202020204" pitchFamily="34" charset="0"/>
              <a:buChar char="•"/>
            </a:pPr>
            <a:r>
              <a:rPr lang="en-US" b="1">
                <a:solidFill>
                  <a:schemeClr val="bg1"/>
                </a:solidFill>
              </a:rPr>
              <a:t>in the discipline:</a:t>
            </a:r>
          </a:p>
          <a:p>
            <a:pPr indent="-228600">
              <a:lnSpc>
                <a:spcPct val="90000"/>
              </a:lnSpc>
              <a:spcBef>
                <a:spcPct val="0"/>
              </a:spcBef>
              <a:spcAft>
                <a:spcPts val="600"/>
              </a:spcAft>
              <a:buFont typeface="Arial" panose="020B0604020202020204" pitchFamily="34" charset="0"/>
              <a:buChar char="•"/>
            </a:pPr>
            <a:r>
              <a:rPr lang="en-US" b="1">
                <a:solidFill>
                  <a:schemeClr val="bg1"/>
                </a:solidFill>
              </a:rPr>
              <a:t>English for professional purposes </a:t>
            </a:r>
          </a:p>
          <a:p>
            <a:pPr indent="-228600">
              <a:lnSpc>
                <a:spcPct val="90000"/>
              </a:lnSpc>
              <a:spcBef>
                <a:spcPct val="0"/>
              </a:spcBef>
              <a:spcAft>
                <a:spcPts val="600"/>
              </a:spcAft>
              <a:buFont typeface="Arial" panose="020B0604020202020204" pitchFamily="34" charset="0"/>
              <a:buChar char="•"/>
            </a:pPr>
            <a:r>
              <a:rPr lang="en-US" b="1">
                <a:solidFill>
                  <a:schemeClr val="bg1"/>
                </a:solidFill>
              </a:rPr>
              <a:t>on the topic:</a:t>
            </a:r>
          </a:p>
          <a:p>
            <a:pPr indent="-228600">
              <a:lnSpc>
                <a:spcPct val="90000"/>
              </a:lnSpc>
              <a:spcBef>
                <a:spcPct val="0"/>
              </a:spcBef>
              <a:spcAft>
                <a:spcPts val="600"/>
              </a:spcAft>
              <a:buFont typeface="Arial" panose="020B0604020202020204" pitchFamily="34" charset="0"/>
              <a:buChar char="•"/>
            </a:pPr>
            <a:r>
              <a:rPr lang="en-US" b="1">
                <a:solidFill>
                  <a:schemeClr val="bg1"/>
                </a:solidFill>
              </a:rPr>
              <a:t>Unusual jobs</a:t>
            </a:r>
          </a:p>
          <a:p>
            <a:pPr indent="-228600">
              <a:lnSpc>
                <a:spcPct val="90000"/>
              </a:lnSpc>
              <a:spcBef>
                <a:spcPct val="0"/>
              </a:spcBef>
              <a:spcAft>
                <a:spcPts val="600"/>
              </a:spcAft>
              <a:buFont typeface="Arial" panose="020B0604020202020204" pitchFamily="34" charset="0"/>
              <a:buChar char="•"/>
            </a:pPr>
            <a:endParaRPr lang="en-US" b="1">
              <a:solidFill>
                <a:schemeClr val="bg1"/>
              </a:solidFill>
            </a:endParaRPr>
          </a:p>
          <a:p>
            <a:pPr indent="-228600">
              <a:lnSpc>
                <a:spcPct val="90000"/>
              </a:lnSpc>
              <a:spcAft>
                <a:spcPts val="600"/>
              </a:spcAft>
              <a:buFont typeface="Arial" panose="020B0604020202020204" pitchFamily="34" charset="0"/>
              <a:buChar char="•"/>
            </a:pPr>
            <a:r>
              <a:rPr lang="en-US">
                <a:solidFill>
                  <a:schemeClr val="bg1"/>
                </a:solidFill>
              </a:rPr>
              <a:t>first-year master's student of group PM-24-1</a:t>
            </a:r>
          </a:p>
          <a:p>
            <a:pPr indent="-228600">
              <a:lnSpc>
                <a:spcPct val="90000"/>
              </a:lnSpc>
              <a:spcAft>
                <a:spcPts val="600"/>
              </a:spcAft>
              <a:buFont typeface="Arial" panose="020B0604020202020204" pitchFamily="34" charset="0"/>
              <a:buChar char="•"/>
            </a:pPr>
            <a:r>
              <a:rPr lang="en-US">
                <a:solidFill>
                  <a:schemeClr val="bg1"/>
                </a:solidFill>
              </a:rPr>
              <a:t>Movsisyan Laura Rostomivna</a:t>
            </a:r>
          </a:p>
          <a:p>
            <a:pPr indent="-228600">
              <a:lnSpc>
                <a:spcPct val="90000"/>
              </a:lnSpc>
              <a:spcBef>
                <a:spcPct val="0"/>
              </a:spcBef>
              <a:spcAft>
                <a:spcPts val="600"/>
              </a:spcAft>
              <a:buFont typeface="Arial" panose="020B0604020202020204" pitchFamily="34" charset="0"/>
              <a:buChar char="•"/>
            </a:pPr>
            <a:endParaRPr lang="en-US" b="1">
              <a:solidFill>
                <a:schemeClr val="bg1"/>
              </a:solidFill>
            </a:endParaRPr>
          </a:p>
          <a:p>
            <a:pPr indent="-228600">
              <a:lnSpc>
                <a:spcPct val="90000"/>
              </a:lnSpc>
              <a:spcBef>
                <a:spcPct val="0"/>
              </a:spcBef>
              <a:spcAft>
                <a:spcPts val="600"/>
              </a:spcAft>
              <a:buFont typeface="Arial" panose="020B0604020202020204" pitchFamily="34" charset="0"/>
              <a:buChar char="•"/>
            </a:pPr>
            <a:endParaRPr lang="en-US" b="1">
              <a:solidFill>
                <a:schemeClr val="bg1"/>
              </a:solidFill>
            </a:endParaRPr>
          </a:p>
        </p:txBody>
      </p:sp>
      <p:grpSp>
        <p:nvGrpSpPr>
          <p:cNvPr id="1039"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1040" name="Freeform: Shape 1039">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41" name="Freeform: Shape 1040">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42" name="Freeform: Shape 1041">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43" name="Freeform: Shape 1042">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44" name="Freeform: Shape 1043">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24521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0" name="Rectangle 2099">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2" name="Rectangle 2101">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04" name="Group 2103">
            <a:extLst>
              <a:ext uri="{FF2B5EF4-FFF2-40B4-BE49-F238E27FC236}">
                <a16:creationId xmlns:a16="http://schemas.microsoft.com/office/drawing/2014/main" id="{2B35F886-1102-4486-830A-34F41439CE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2105" name="Oval 2104">
              <a:extLst>
                <a:ext uri="{FF2B5EF4-FFF2-40B4-BE49-F238E27FC236}">
                  <a16:creationId xmlns:a16="http://schemas.microsoft.com/office/drawing/2014/main" id="{7DEFD1BC-7AD4-41EC-8E11-4E5E8AC541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6" name="Oval 2105">
              <a:extLst>
                <a:ext uri="{FF2B5EF4-FFF2-40B4-BE49-F238E27FC236}">
                  <a16:creationId xmlns:a16="http://schemas.microsoft.com/office/drawing/2014/main" id="{8B0E5C8B-3874-4B3C-BAD4-9EFE85FEAC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7" name="Oval 2106">
              <a:extLst>
                <a:ext uri="{FF2B5EF4-FFF2-40B4-BE49-F238E27FC236}">
                  <a16:creationId xmlns:a16="http://schemas.microsoft.com/office/drawing/2014/main" id="{E7DA6224-9378-452F-A53A-DD0BF19724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8" name="Oval 2107">
              <a:extLst>
                <a:ext uri="{FF2B5EF4-FFF2-40B4-BE49-F238E27FC236}">
                  <a16:creationId xmlns:a16="http://schemas.microsoft.com/office/drawing/2014/main" id="{1DE869DF-C006-49F7-B9FF-0317F64E9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09" name="Oval 2108">
              <a:extLst>
                <a:ext uri="{FF2B5EF4-FFF2-40B4-BE49-F238E27FC236}">
                  <a16:creationId xmlns:a16="http://schemas.microsoft.com/office/drawing/2014/main" id="{FD200C16-6204-4580-AB37-7E94176D0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0" name="Oval 2109">
              <a:extLst>
                <a:ext uri="{FF2B5EF4-FFF2-40B4-BE49-F238E27FC236}">
                  <a16:creationId xmlns:a16="http://schemas.microsoft.com/office/drawing/2014/main" id="{F0DE7603-6DD0-4DB6-88FC-5402B9D4AA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8" name="Picture 10" descr="potting flowers, transplanting seedlings, growth process - nursery manager stock pictures, royalty-free photos &amp; images">
            <a:extLst>
              <a:ext uri="{FF2B5EF4-FFF2-40B4-BE49-F238E27FC236}">
                <a16:creationId xmlns:a16="http://schemas.microsoft.com/office/drawing/2014/main" id="{3F57E5B1-E239-92E0-964C-2232B80F3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634" r="3137" b="1"/>
          <a:stretch/>
        </p:blipFill>
        <p:spPr bwMode="auto">
          <a:xfrm>
            <a:off x="603504" y="417317"/>
            <a:ext cx="3549663" cy="3157838"/>
          </a:xfrm>
          <a:prstGeom prst="rect">
            <a:avLst/>
          </a:prstGeom>
          <a:noFill/>
          <a:extLst>
            <a:ext uri="{909E8E84-426E-40DD-AFC4-6F175D3DCCD1}">
              <a14:hiddenFill xmlns:a14="http://schemas.microsoft.com/office/drawing/2010/main">
                <a:solidFill>
                  <a:srgbClr val="FFFFFF"/>
                </a:solidFill>
              </a14:hiddenFill>
            </a:ext>
          </a:extLst>
        </p:spPr>
      </p:pic>
      <p:grpSp>
        <p:nvGrpSpPr>
          <p:cNvPr id="2112" name="Group 2111">
            <a:extLst>
              <a:ext uri="{FF2B5EF4-FFF2-40B4-BE49-F238E27FC236}">
                <a16:creationId xmlns:a16="http://schemas.microsoft.com/office/drawing/2014/main" id="{975C268C-D419-4123-9FAD-0E2B7F9EE7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584794"/>
            <a:ext cx="304800" cy="429768"/>
            <a:chOff x="215328" y="-46937"/>
            <a:chExt cx="304800" cy="2773841"/>
          </a:xfrm>
        </p:grpSpPr>
        <p:cxnSp>
          <p:nvCxnSpPr>
            <p:cNvPr id="2113" name="Straight Connector 2112">
              <a:extLst>
                <a:ext uri="{FF2B5EF4-FFF2-40B4-BE49-F238E27FC236}">
                  <a16:creationId xmlns:a16="http://schemas.microsoft.com/office/drawing/2014/main" id="{3A7E309C-A3BD-432E-8CB5-F0B6425281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4" name="Straight Connector 2113">
              <a:extLst>
                <a:ext uri="{FF2B5EF4-FFF2-40B4-BE49-F238E27FC236}">
                  <a16:creationId xmlns:a16="http://schemas.microsoft.com/office/drawing/2014/main" id="{2F1F621C-4533-4835-ADE2-372F2763A07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5" name="Straight Connector 2114">
              <a:extLst>
                <a:ext uri="{FF2B5EF4-FFF2-40B4-BE49-F238E27FC236}">
                  <a16:creationId xmlns:a16="http://schemas.microsoft.com/office/drawing/2014/main" id="{8EFC8245-5168-4DAF-930D-09A7BDDA6C1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116" name="Straight Connector 2115">
              <a:extLst>
                <a:ext uri="{FF2B5EF4-FFF2-40B4-BE49-F238E27FC236}">
                  <a16:creationId xmlns:a16="http://schemas.microsoft.com/office/drawing/2014/main" id="{F192ED34-5046-4043-AEF8-2DF7C480619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2056" name="Picture 8" descr="male gardener taking care of his flowers by injecting water directly in the pot soil - nursery manager stock pictures, royalty-free photos &amp; images">
            <a:extLst>
              <a:ext uri="{FF2B5EF4-FFF2-40B4-BE49-F238E27FC236}">
                <a16:creationId xmlns:a16="http://schemas.microsoft.com/office/drawing/2014/main" id="{B393CE35-7DA8-CAFA-02B4-4402CBF26A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300" r="22787"/>
          <a:stretch/>
        </p:blipFill>
        <p:spPr bwMode="auto">
          <a:xfrm>
            <a:off x="4280448" y="406043"/>
            <a:ext cx="3549663" cy="3162873"/>
          </a:xfrm>
          <a:prstGeom prst="rect">
            <a:avLst/>
          </a:prstGeom>
          <a:noFill/>
          <a:extLst>
            <a:ext uri="{909E8E84-426E-40DD-AFC4-6F175D3DCCD1}">
              <a14:hiddenFill xmlns:a14="http://schemas.microsoft.com/office/drawing/2010/main">
                <a:solidFill>
                  <a:srgbClr val="FFFFFF"/>
                </a:solidFill>
              </a14:hiddenFill>
            </a:ext>
          </a:extLst>
        </p:spPr>
      </p:pic>
      <p:sp>
        <p:nvSpPr>
          <p:cNvPr id="2118" name="Rectangle 2117">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20" name="Group 2119">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121" name="Straight Connector 2120">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22" name="Straight Connector 2121">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23" name="Straight Connector 2122">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24" name="Straight Connector 2123">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40" name="Picture 39" descr="Зображення, що містить ряд&#10;&#10;Автоматично згенерований опис із низьким рівнем достовірності">
            <a:extLst>
              <a:ext uri="{FF2B5EF4-FFF2-40B4-BE49-F238E27FC236}">
                <a16:creationId xmlns:a16="http://schemas.microsoft.com/office/drawing/2014/main" id="{1D634FB1-0EA6-BF54-0A2C-BB8D5474356A}"/>
              </a:ext>
            </a:extLst>
          </p:cNvPr>
          <p:cNvPicPr>
            <a:picLocks noChangeAspect="1"/>
          </p:cNvPicPr>
          <p:nvPr/>
        </p:nvPicPr>
        <p:blipFill rotWithShape="1">
          <a:blip r:embed="rId5"/>
          <a:srcRect l="25087"/>
          <a:stretch/>
        </p:blipFill>
        <p:spPr>
          <a:xfrm>
            <a:off x="7949294" y="406043"/>
            <a:ext cx="3549663" cy="3162873"/>
          </a:xfrm>
          <a:prstGeom prst="rect">
            <a:avLst/>
          </a:prstGeom>
        </p:spPr>
      </p:pic>
      <p:sp>
        <p:nvSpPr>
          <p:cNvPr id="2126" name="Rectangle 2125">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28" name="Group 2127">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2129" name="Straight Connector 2128">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30" name="Straight Connector 2129">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31" name="Straight Connector 2130">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132" name="Straight Connector 2131">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CBD74F6A-5550-8FA5-E5A6-FCB3D6069072}"/>
              </a:ext>
            </a:extLst>
          </p:cNvPr>
          <p:cNvSpPr txBox="1"/>
          <p:nvPr/>
        </p:nvSpPr>
        <p:spPr>
          <a:xfrm>
            <a:off x="5486080" y="4018143"/>
            <a:ext cx="5994666" cy="2129599"/>
          </a:xfrm>
          <a:prstGeom prst="rect">
            <a:avLst/>
          </a:prstGeom>
          <a:noFill/>
        </p:spPr>
        <p:txBody>
          <a:bodyPr vert="horz" lIns="91440" tIns="45720" rIns="91440" bIns="45720" rtlCol="0" anchor="t">
            <a:normAutofit/>
          </a:bodyPr>
          <a:lstStyle/>
          <a:p>
            <a:pPr indent="-228600">
              <a:lnSpc>
                <a:spcPct val="90000"/>
              </a:lnSpc>
              <a:spcBef>
                <a:spcPct val="0"/>
              </a:spcBef>
              <a:spcAft>
                <a:spcPts val="600"/>
              </a:spcAft>
              <a:buFont typeface="Arial" panose="020B0604020202020204" pitchFamily="34" charset="0"/>
              <a:buChar char="•"/>
            </a:pPr>
            <a:r>
              <a:rPr lang="en-US" b="0" i="0">
                <a:solidFill>
                  <a:schemeClr val="bg1"/>
                </a:solidFill>
                <a:effectLst/>
              </a:rPr>
              <a:t>Nursery Manager</a:t>
            </a:r>
          </a:p>
          <a:p>
            <a:pPr indent="-228600">
              <a:lnSpc>
                <a:spcPct val="90000"/>
              </a:lnSpc>
              <a:spcBef>
                <a:spcPct val="0"/>
              </a:spcBef>
              <a:spcAft>
                <a:spcPts val="600"/>
              </a:spcAft>
              <a:buFont typeface="Arial" panose="020B0604020202020204" pitchFamily="34" charset="0"/>
              <a:buChar char="•"/>
            </a:pPr>
            <a:endParaRPr lang="en-US">
              <a:solidFill>
                <a:schemeClr val="bg1"/>
              </a:solidFill>
            </a:endParaRPr>
          </a:p>
          <a:p>
            <a:pPr indent="-228600">
              <a:lnSpc>
                <a:spcPct val="90000"/>
              </a:lnSpc>
              <a:spcBef>
                <a:spcPct val="0"/>
              </a:spcBef>
              <a:spcAft>
                <a:spcPts val="600"/>
              </a:spcAft>
              <a:buFont typeface="Arial" panose="020B0604020202020204" pitchFamily="34" charset="0"/>
              <a:buChar char="•"/>
            </a:pPr>
            <a:endParaRPr lang="en-US" b="0" i="0">
              <a:solidFill>
                <a:schemeClr val="bg1"/>
              </a:solidFill>
              <a:effectLst/>
            </a:endParaRPr>
          </a:p>
          <a:p>
            <a:pPr indent="-228600">
              <a:lnSpc>
                <a:spcPct val="90000"/>
              </a:lnSpc>
              <a:spcBef>
                <a:spcPct val="0"/>
              </a:spcBef>
              <a:spcAft>
                <a:spcPts val="600"/>
              </a:spcAft>
              <a:buFont typeface="Arial" panose="020B0604020202020204" pitchFamily="34" charset="0"/>
              <a:buChar char="•"/>
            </a:pPr>
            <a:r>
              <a:rPr lang="en-US">
                <a:solidFill>
                  <a:schemeClr val="bg1"/>
                </a:solidFill>
              </a:rPr>
              <a:t>Role and Responsibilities</a:t>
            </a:r>
          </a:p>
          <a:p>
            <a:pPr indent="-228600">
              <a:lnSpc>
                <a:spcPct val="90000"/>
              </a:lnSpc>
              <a:spcBef>
                <a:spcPct val="0"/>
              </a:spcBef>
              <a:spcAft>
                <a:spcPts val="600"/>
              </a:spcAft>
              <a:buFont typeface="Arial" panose="020B0604020202020204" pitchFamily="34" charset="0"/>
              <a:buChar char="•"/>
            </a:pPr>
            <a:endParaRPr lang="en-US" b="1">
              <a:solidFill>
                <a:schemeClr val="bg1"/>
              </a:solidFill>
            </a:endParaRPr>
          </a:p>
        </p:txBody>
      </p:sp>
      <p:sp>
        <p:nvSpPr>
          <p:cNvPr id="2" name="TextBox 1">
            <a:extLst>
              <a:ext uri="{FF2B5EF4-FFF2-40B4-BE49-F238E27FC236}">
                <a16:creationId xmlns:a16="http://schemas.microsoft.com/office/drawing/2014/main" id="{40784676-1666-E24D-94A5-7779D690E24A}"/>
              </a:ext>
            </a:extLst>
          </p:cNvPr>
          <p:cNvSpPr txBox="1"/>
          <p:nvPr/>
        </p:nvSpPr>
        <p:spPr>
          <a:xfrm>
            <a:off x="838199" y="1065862"/>
            <a:ext cx="6052955" cy="4726276"/>
          </a:xfrm>
          <a:prstGeom prst="rect">
            <a:avLst/>
          </a:prstGeom>
        </p:spPr>
        <p:txBody>
          <a:bodyPr vert="horz" lIns="91440" tIns="45720" rIns="91440" bIns="45720" rtlCol="0" anchor="ctr">
            <a:normAutofit/>
          </a:bodyPr>
          <a:lstStyle/>
          <a:p>
            <a:pPr algn="r">
              <a:lnSpc>
                <a:spcPct val="90000"/>
              </a:lnSpc>
              <a:spcBef>
                <a:spcPct val="0"/>
              </a:spcBef>
              <a:spcAft>
                <a:spcPts val="600"/>
              </a:spcAft>
            </a:pPr>
            <a:endParaRPr lang="en-US" sz="8000" b="1" dirty="0">
              <a:ln w="22225">
                <a:solidFill>
                  <a:srgbClr val="FFFFFF"/>
                </a:solidFill>
              </a:ln>
              <a:noFill/>
              <a:latin typeface="+mj-lt"/>
              <a:ea typeface="+mj-ea"/>
              <a:cs typeface="+mj-cs"/>
            </a:endParaRPr>
          </a:p>
        </p:txBody>
      </p:sp>
    </p:spTree>
    <p:extLst>
      <p:ext uri="{BB962C8B-B14F-4D97-AF65-F5344CB8AC3E}">
        <p14:creationId xmlns:p14="http://schemas.microsoft.com/office/powerpoint/2010/main" val="863373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13" name="Rectangle 308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3076" name="Picture 4" descr="gardening florist kokedama experience - curriculum crafting: stock pictures, royalty-free photos &amp; images">
            <a:extLst>
              <a:ext uri="{FF2B5EF4-FFF2-40B4-BE49-F238E27FC236}">
                <a16:creationId xmlns:a16="http://schemas.microsoft.com/office/drawing/2014/main" id="{9A20D04F-5D34-0E3B-4822-BB23213DE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1063"/>
          <a:stretch/>
        </p:blipFill>
        <p:spPr bwMode="auto">
          <a:xfrm>
            <a:off x="20" y="-1"/>
            <a:ext cx="4917198" cy="2919130"/>
          </a:xfrm>
          <a:prstGeom prst="rect">
            <a:avLst/>
          </a:prstGeom>
          <a:noFill/>
          <a:extLst>
            <a:ext uri="{909E8E84-426E-40DD-AFC4-6F175D3DCCD1}">
              <a14:hiddenFill xmlns:a14="http://schemas.microsoft.com/office/drawing/2010/main">
                <a:solidFill>
                  <a:srgbClr val="FFFFFF"/>
                </a:solidFill>
              </a14:hiddenFill>
            </a:ext>
          </a:extLst>
        </p:spPr>
      </p:pic>
      <p:grpSp>
        <p:nvGrpSpPr>
          <p:cNvPr id="3114" name="Group 3082">
            <a:extLst>
              <a:ext uri="{FF2B5EF4-FFF2-40B4-BE49-F238E27FC236}">
                <a16:creationId xmlns:a16="http://schemas.microsoft.com/office/drawing/2014/main" id="{1CF03BDF-BAB0-4895-98AF-E26EE081D9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79264" y="-929399"/>
            <a:ext cx="2408650" cy="4367176"/>
            <a:chOff x="6833344" y="1502572"/>
            <a:chExt cx="2408650" cy="4343740"/>
          </a:xfrm>
        </p:grpSpPr>
        <p:cxnSp>
          <p:nvCxnSpPr>
            <p:cNvPr id="3084" name="Straight Connector 3083">
              <a:extLst>
                <a:ext uri="{FF2B5EF4-FFF2-40B4-BE49-F238E27FC236}">
                  <a16:creationId xmlns:a16="http://schemas.microsoft.com/office/drawing/2014/main" id="{2598CC8A-F5E2-4B20-8E5A-5C9F77B0EDE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5400000" flipH="1">
              <a:off x="4661474" y="3674442"/>
              <a:ext cx="434374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15" name="Straight Connector 3084">
              <a:extLst>
                <a:ext uri="{FF2B5EF4-FFF2-40B4-BE49-F238E27FC236}">
                  <a16:creationId xmlns:a16="http://schemas.microsoft.com/office/drawing/2014/main" id="{356EFDDC-4D10-40E2-B179-928889F8BD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5400000">
              <a:off x="8039282" y="308817"/>
              <a:ext cx="0" cy="2405424"/>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cxnSp>
        <p:nvCxnSpPr>
          <p:cNvPr id="3116" name="Straight Connector 3086">
            <a:extLst>
              <a:ext uri="{FF2B5EF4-FFF2-40B4-BE49-F238E27FC236}">
                <a16:creationId xmlns:a16="http://schemas.microsoft.com/office/drawing/2014/main" id="{DAE05351-315A-4BA9-A90A-FE5C949522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395425" y="1512087"/>
            <a:ext cx="579657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074" name="Picture 2" descr="woman filling glass bottle with plants in nursery - creating a nurturing environment: stock pictures, royalty-free photos &amp; images">
            <a:extLst>
              <a:ext uri="{FF2B5EF4-FFF2-40B4-BE49-F238E27FC236}">
                <a16:creationId xmlns:a16="http://schemas.microsoft.com/office/drawing/2014/main" id="{B6056E0F-F0B7-C8BC-A09B-FB6F54B357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3" b="4080"/>
          <a:stretch/>
        </p:blipFill>
        <p:spPr bwMode="auto">
          <a:xfrm>
            <a:off x="20" y="3325517"/>
            <a:ext cx="5517385" cy="353248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BD74F6A-5550-8FA5-E5A6-FCB3D6069072}"/>
              </a:ext>
            </a:extLst>
          </p:cNvPr>
          <p:cNvSpPr txBox="1"/>
          <p:nvPr/>
        </p:nvSpPr>
        <p:spPr>
          <a:xfrm>
            <a:off x="6395425" y="1781070"/>
            <a:ext cx="4984666" cy="1748711"/>
          </a:xfrm>
          <a:prstGeom prst="rect">
            <a:avLst/>
          </a:prstGeom>
        </p:spPr>
        <p:txBody>
          <a:bodyPr vert="horz" lIns="91440" tIns="45720" rIns="91440" bIns="45720" rtlCol="0">
            <a:noAutofit/>
          </a:bodyPr>
          <a:lstStyle/>
          <a:p>
            <a:pPr algn="ctr">
              <a:lnSpc>
                <a:spcPct val="90000"/>
              </a:lnSpc>
              <a:spcBef>
                <a:spcPct val="0"/>
              </a:spcBef>
              <a:spcAft>
                <a:spcPts val="600"/>
              </a:spcAft>
            </a:pPr>
            <a:r>
              <a:rPr lang="en-US" sz="2400" b="0" i="0" dirty="0">
                <a:solidFill>
                  <a:schemeClr val="bg1"/>
                </a:solidFill>
                <a:effectLst/>
              </a:rPr>
              <a:t>Nursery Manager</a:t>
            </a:r>
          </a:p>
          <a:p>
            <a:pPr>
              <a:lnSpc>
                <a:spcPct val="90000"/>
              </a:lnSpc>
              <a:spcBef>
                <a:spcPct val="0"/>
              </a:spcBef>
              <a:spcAft>
                <a:spcPts val="600"/>
              </a:spcAft>
            </a:pPr>
            <a:endParaRPr lang="en-US" sz="2400" dirty="0">
              <a:solidFill>
                <a:schemeClr val="bg1"/>
              </a:solidFill>
            </a:endParaRPr>
          </a:p>
          <a:p>
            <a:pPr algn="ctr">
              <a:lnSpc>
                <a:spcPct val="90000"/>
              </a:lnSpc>
              <a:spcBef>
                <a:spcPct val="0"/>
              </a:spcBef>
              <a:spcAft>
                <a:spcPts val="600"/>
              </a:spcAft>
            </a:pPr>
            <a:r>
              <a:rPr lang="en-US" sz="2400" b="0" i="0" dirty="0">
                <a:solidFill>
                  <a:schemeClr val="bg1"/>
                </a:solidFill>
                <a:effectLst/>
              </a:rPr>
              <a:t>Work Settings</a:t>
            </a:r>
          </a:p>
          <a:p>
            <a:pPr algn="ctr">
              <a:lnSpc>
                <a:spcPct val="90000"/>
              </a:lnSpc>
              <a:spcBef>
                <a:spcPct val="0"/>
              </a:spcBef>
              <a:spcAft>
                <a:spcPts val="600"/>
              </a:spcAft>
            </a:pPr>
            <a:br>
              <a:rPr lang="en-US" sz="2400" b="0" i="0" dirty="0">
                <a:solidFill>
                  <a:schemeClr val="bg1"/>
                </a:solidFill>
                <a:effectLst/>
              </a:rPr>
            </a:br>
            <a:endParaRPr lang="en-US" sz="2400" b="1" dirty="0">
              <a:solidFill>
                <a:schemeClr val="bg1"/>
              </a:solidFill>
            </a:endParaRPr>
          </a:p>
        </p:txBody>
      </p:sp>
      <p:grpSp>
        <p:nvGrpSpPr>
          <p:cNvPr id="3089" name="Group 3088">
            <a:extLst>
              <a:ext uri="{FF2B5EF4-FFF2-40B4-BE49-F238E27FC236}">
                <a16:creationId xmlns:a16="http://schemas.microsoft.com/office/drawing/2014/main" id="{9D20816A-53A8-414B-9615-2877C10816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3852756"/>
            <a:ext cx="4913995" cy="3005244"/>
            <a:chOff x="6836570" y="1502570"/>
            <a:chExt cx="4913995" cy="3005244"/>
          </a:xfrm>
        </p:grpSpPr>
        <p:cxnSp>
          <p:nvCxnSpPr>
            <p:cNvPr id="3090" name="Straight Connector 3089">
              <a:extLst>
                <a:ext uri="{FF2B5EF4-FFF2-40B4-BE49-F238E27FC236}">
                  <a16:creationId xmlns:a16="http://schemas.microsoft.com/office/drawing/2014/main" id="{49CC84F6-0A3D-42D4-84D1-34E857123F1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V="1">
              <a:off x="6842352" y="1502573"/>
              <a:ext cx="0" cy="300524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91" name="Straight Connector 3090">
              <a:extLst>
                <a:ext uri="{FF2B5EF4-FFF2-40B4-BE49-F238E27FC236}">
                  <a16:creationId xmlns:a16="http://schemas.microsoft.com/office/drawing/2014/main" id="{C76FD32F-1C07-4AF8-994F-CDC99B5D441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6836570" y="1502570"/>
              <a:ext cx="4913995"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pic>
        <p:nvPicPr>
          <p:cNvPr id="40" name="Picture 39">
            <a:extLst>
              <a:ext uri="{FF2B5EF4-FFF2-40B4-BE49-F238E27FC236}">
                <a16:creationId xmlns:a16="http://schemas.microsoft.com/office/drawing/2014/main" id="{1D634FB1-0EA6-BF54-0A2C-BB8D5474356A}"/>
              </a:ext>
            </a:extLst>
          </p:cNvPr>
          <p:cNvPicPr>
            <a:picLocks noChangeAspect="1"/>
          </p:cNvPicPr>
          <p:nvPr/>
        </p:nvPicPr>
        <p:blipFill rotWithShape="1">
          <a:blip r:embed="rId5"/>
          <a:srcRect t="22131" b="18704"/>
          <a:stretch/>
        </p:blipFill>
        <p:spPr>
          <a:xfrm>
            <a:off x="6027179" y="4423358"/>
            <a:ext cx="6164819" cy="2434645"/>
          </a:xfrm>
          <a:prstGeom prst="rect">
            <a:avLst/>
          </a:prstGeom>
        </p:spPr>
      </p:pic>
      <p:grpSp>
        <p:nvGrpSpPr>
          <p:cNvPr id="3093" name="Group 3092">
            <a:extLst>
              <a:ext uri="{FF2B5EF4-FFF2-40B4-BE49-F238E27FC236}">
                <a16:creationId xmlns:a16="http://schemas.microsoft.com/office/drawing/2014/main" id="{39805232-5777-4A85-942E-6BB80CF20A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973977" y="4853728"/>
            <a:ext cx="4800563" cy="2004272"/>
            <a:chOff x="6836571" y="1502570"/>
            <a:chExt cx="4800563" cy="2004272"/>
          </a:xfrm>
        </p:grpSpPr>
        <p:cxnSp>
          <p:nvCxnSpPr>
            <p:cNvPr id="3094" name="Straight Connector 3093">
              <a:extLst>
                <a:ext uri="{FF2B5EF4-FFF2-40B4-BE49-F238E27FC236}">
                  <a16:creationId xmlns:a16="http://schemas.microsoft.com/office/drawing/2014/main" id="{D2826189-C92E-4884-BA98-A2156BB5BB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V="1">
              <a:off x="6837848" y="1502574"/>
              <a:ext cx="0" cy="200426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95" name="Straight Connector 3094">
              <a:extLst>
                <a:ext uri="{FF2B5EF4-FFF2-40B4-BE49-F238E27FC236}">
                  <a16:creationId xmlns:a16="http://schemas.microsoft.com/office/drawing/2014/main" id="{99EC6AF7-21E3-4FF6-A839-F8004D2D7BF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6836571" y="1502570"/>
              <a:ext cx="4800563"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40784676-1666-E24D-94A5-7779D690E24A}"/>
              </a:ext>
            </a:extLst>
          </p:cNvPr>
          <p:cNvSpPr txBox="1"/>
          <p:nvPr/>
        </p:nvSpPr>
        <p:spPr>
          <a:xfrm>
            <a:off x="838199" y="1065862"/>
            <a:ext cx="6052955" cy="4726276"/>
          </a:xfrm>
          <a:prstGeom prst="rect">
            <a:avLst/>
          </a:prstGeom>
        </p:spPr>
        <p:txBody>
          <a:bodyPr vert="horz" lIns="91440" tIns="45720" rIns="91440" bIns="45720" rtlCol="0" anchor="ctr">
            <a:normAutofit/>
          </a:bodyPr>
          <a:lstStyle/>
          <a:p>
            <a:pPr algn="r">
              <a:lnSpc>
                <a:spcPct val="90000"/>
              </a:lnSpc>
              <a:spcBef>
                <a:spcPct val="0"/>
              </a:spcBef>
              <a:spcAft>
                <a:spcPts val="600"/>
              </a:spcAft>
            </a:pPr>
            <a:endParaRPr lang="en-US" sz="8000" b="1" dirty="0">
              <a:ln w="22225">
                <a:solidFill>
                  <a:srgbClr val="FFFFFF"/>
                </a:solidFill>
              </a:ln>
              <a:noFill/>
              <a:latin typeface="+mj-lt"/>
              <a:ea typeface="+mj-ea"/>
              <a:cs typeface="+mj-cs"/>
            </a:endParaRPr>
          </a:p>
        </p:txBody>
      </p:sp>
    </p:spTree>
    <p:extLst>
      <p:ext uri="{BB962C8B-B14F-4D97-AF65-F5344CB8AC3E}">
        <p14:creationId xmlns:p14="http://schemas.microsoft.com/office/powerpoint/2010/main" val="3539303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114C78B5-EC6B-4A39-8860-705100867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 name="Picture 39">
            <a:extLst>
              <a:ext uri="{FF2B5EF4-FFF2-40B4-BE49-F238E27FC236}">
                <a16:creationId xmlns:a16="http://schemas.microsoft.com/office/drawing/2014/main" id="{1D634FB1-0EA6-BF54-0A2C-BB8D5474356A}"/>
              </a:ext>
            </a:extLst>
          </p:cNvPr>
          <p:cNvPicPr>
            <a:picLocks noChangeAspect="1"/>
          </p:cNvPicPr>
          <p:nvPr/>
        </p:nvPicPr>
        <p:blipFill rotWithShape="1">
          <a:blip r:embed="rId3"/>
          <a:srcRect l="30176" r="1440"/>
          <a:stretch/>
        </p:blipFill>
        <p:spPr>
          <a:xfrm>
            <a:off x="20" y="10"/>
            <a:ext cx="4000480" cy="3904882"/>
          </a:xfrm>
          <a:custGeom>
            <a:avLst/>
            <a:gdLst/>
            <a:ahLst/>
            <a:cxnLst/>
            <a:rect l="l" t="t" r="r" b="b"/>
            <a:pathLst>
              <a:path w="4000500" h="3413410">
                <a:moveTo>
                  <a:pt x="0" y="0"/>
                </a:moveTo>
                <a:lnTo>
                  <a:pt x="4000500" y="0"/>
                </a:lnTo>
                <a:lnTo>
                  <a:pt x="4000500" y="3330603"/>
                </a:lnTo>
                <a:lnTo>
                  <a:pt x="416174" y="3413410"/>
                </a:lnTo>
                <a:lnTo>
                  <a:pt x="0" y="3408169"/>
                </a:lnTo>
                <a:close/>
              </a:path>
            </a:pathLst>
          </a:custGeom>
        </p:spPr>
      </p:pic>
      <p:pic>
        <p:nvPicPr>
          <p:cNvPr id="4100" name="Picture 4" descr="woman veterinarian and a dog - pet psychologist   stock pictures, royalty-free photos &amp; images">
            <a:extLst>
              <a:ext uri="{FF2B5EF4-FFF2-40B4-BE49-F238E27FC236}">
                <a16:creationId xmlns:a16="http://schemas.microsoft.com/office/drawing/2014/main" id="{CA297064-ADBD-CB34-7CD1-83C7CCCA01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9561" r="15311"/>
          <a:stretch/>
        </p:blipFill>
        <p:spPr bwMode="auto">
          <a:xfrm>
            <a:off x="4191002" y="10"/>
            <a:ext cx="3809998" cy="3904881"/>
          </a:xfrm>
          <a:custGeom>
            <a:avLst/>
            <a:gdLst/>
            <a:ahLst/>
            <a:cxnLst/>
            <a:rect l="l" t="t" r="r" b="b"/>
            <a:pathLst>
              <a:path w="3809998" h="3361533">
                <a:moveTo>
                  <a:pt x="0" y="0"/>
                </a:moveTo>
                <a:lnTo>
                  <a:pt x="3809998" y="0"/>
                </a:lnTo>
                <a:lnTo>
                  <a:pt x="3809998" y="3353206"/>
                </a:lnTo>
                <a:lnTo>
                  <a:pt x="1781628" y="3181423"/>
                </a:lnTo>
                <a:lnTo>
                  <a:pt x="0" y="3361533"/>
                </a:lnTo>
                <a:close/>
              </a:path>
            </a:pathLst>
          </a:custGeom>
          <a:noFill/>
          <a:extLst>
            <a:ext uri="{909E8E84-426E-40DD-AFC4-6F175D3DCCD1}">
              <a14:hiddenFill xmlns:a14="http://schemas.microsoft.com/office/drawing/2010/main">
                <a:solidFill>
                  <a:srgbClr val="FFFFFF"/>
                </a:solidFill>
              </a14:hiddenFill>
            </a:ext>
          </a:extLst>
        </p:spPr>
      </p:pic>
      <p:pic>
        <p:nvPicPr>
          <p:cNvPr id="4098" name="Picture 2" descr="meeting with counsellor at home - pet psychologist   stock pictures, royalty-free photos &amp; images">
            <a:extLst>
              <a:ext uri="{FF2B5EF4-FFF2-40B4-BE49-F238E27FC236}">
                <a16:creationId xmlns:a16="http://schemas.microsoft.com/office/drawing/2014/main" id="{6EEBD8BC-4FF4-09DD-BB7E-93D1D82EA3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0941" r="2690" b="-1"/>
          <a:stretch/>
        </p:blipFill>
        <p:spPr bwMode="auto">
          <a:xfrm>
            <a:off x="8191500" y="-1"/>
            <a:ext cx="4000500" cy="4008409"/>
          </a:xfrm>
          <a:custGeom>
            <a:avLst/>
            <a:gdLst/>
            <a:ahLst/>
            <a:cxnLst/>
            <a:rect l="l" t="t" r="r" b="b"/>
            <a:pathLst>
              <a:path w="4000500" h="3403026">
                <a:moveTo>
                  <a:pt x="0" y="0"/>
                </a:moveTo>
                <a:lnTo>
                  <a:pt x="4000500" y="0"/>
                </a:lnTo>
                <a:lnTo>
                  <a:pt x="4000500" y="3403026"/>
                </a:lnTo>
                <a:lnTo>
                  <a:pt x="9072" y="3370108"/>
                </a:lnTo>
                <a:lnTo>
                  <a:pt x="0" y="3369340"/>
                </a:lnTo>
                <a:close/>
              </a:path>
            </a:pathLst>
          </a:custGeom>
          <a:noFill/>
          <a:extLst>
            <a:ext uri="{909E8E84-426E-40DD-AFC4-6F175D3DCCD1}">
              <a14:hiddenFill xmlns:a14="http://schemas.microsoft.com/office/drawing/2010/main">
                <a:solidFill>
                  <a:srgbClr val="FFFFFF"/>
                </a:solidFill>
              </a14:hiddenFill>
            </a:ext>
          </a:extLst>
        </p:spPr>
      </p:pic>
      <p:grpSp>
        <p:nvGrpSpPr>
          <p:cNvPr id="4107" name="Group 4106">
            <a:extLst>
              <a:ext uri="{FF2B5EF4-FFF2-40B4-BE49-F238E27FC236}">
                <a16:creationId xmlns:a16="http://schemas.microsoft.com/office/drawing/2014/main" id="{A50943B0-FDF7-4C2C-B784-9208C945A8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4108" name="Freeform: Shape 4107">
              <a:extLst>
                <a:ext uri="{FF2B5EF4-FFF2-40B4-BE49-F238E27FC236}">
                  <a16:creationId xmlns:a16="http://schemas.microsoft.com/office/drawing/2014/main" id="{64021FAB-FA86-49DE-8FC9-585A1729B7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09" name="Freeform: Shape 4108">
              <a:extLst>
                <a:ext uri="{FF2B5EF4-FFF2-40B4-BE49-F238E27FC236}">
                  <a16:creationId xmlns:a16="http://schemas.microsoft.com/office/drawing/2014/main" id="{7B58B526-A432-4EB5-AA70-2BB897257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6">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extBox 2">
            <a:extLst>
              <a:ext uri="{FF2B5EF4-FFF2-40B4-BE49-F238E27FC236}">
                <a16:creationId xmlns:a16="http://schemas.microsoft.com/office/drawing/2014/main" id="{CBD74F6A-5550-8FA5-E5A6-FCB3D6069072}"/>
              </a:ext>
            </a:extLst>
          </p:cNvPr>
          <p:cNvSpPr txBox="1"/>
          <p:nvPr/>
        </p:nvSpPr>
        <p:spPr>
          <a:xfrm>
            <a:off x="3103881" y="4617910"/>
            <a:ext cx="5692774" cy="1077411"/>
          </a:xfrm>
          <a:prstGeom prst="rect">
            <a:avLst/>
          </a:prstGeom>
        </p:spPr>
        <p:txBody>
          <a:bodyPr vert="horz" lIns="91440" tIns="45720" rIns="91440" bIns="45720" rtlCol="0">
            <a:noAutofit/>
          </a:bodyPr>
          <a:lstStyle/>
          <a:p>
            <a:pPr algn="ctr">
              <a:lnSpc>
                <a:spcPct val="90000"/>
              </a:lnSpc>
              <a:spcBef>
                <a:spcPct val="0"/>
              </a:spcBef>
              <a:spcAft>
                <a:spcPts val="600"/>
              </a:spcAft>
            </a:pPr>
            <a:r>
              <a:rPr lang="en-US" sz="2400" b="0" i="0" dirty="0">
                <a:solidFill>
                  <a:schemeClr val="bg1">
                    <a:alpha val="80000"/>
                  </a:schemeClr>
                </a:solidFill>
                <a:effectLst/>
              </a:rPr>
              <a:t>Pet psychologist</a:t>
            </a:r>
          </a:p>
          <a:p>
            <a:pPr indent="-228600" algn="ctr">
              <a:lnSpc>
                <a:spcPct val="90000"/>
              </a:lnSpc>
              <a:spcBef>
                <a:spcPct val="0"/>
              </a:spcBef>
              <a:spcAft>
                <a:spcPts val="600"/>
              </a:spcAft>
              <a:buFont typeface="Arial" panose="020B0604020202020204" pitchFamily="34" charset="0"/>
              <a:buChar char="•"/>
            </a:pPr>
            <a:endParaRPr lang="en-US" sz="2400" dirty="0">
              <a:solidFill>
                <a:schemeClr val="bg1">
                  <a:alpha val="80000"/>
                </a:schemeClr>
              </a:solidFill>
            </a:endParaRPr>
          </a:p>
          <a:p>
            <a:pPr algn="ctr">
              <a:lnSpc>
                <a:spcPct val="90000"/>
              </a:lnSpc>
              <a:spcBef>
                <a:spcPct val="0"/>
              </a:spcBef>
              <a:spcAft>
                <a:spcPts val="600"/>
              </a:spcAft>
            </a:pPr>
            <a:r>
              <a:rPr lang="en-US" sz="2400" b="1" i="0" dirty="0">
                <a:solidFill>
                  <a:schemeClr val="bg1">
                    <a:alpha val="80000"/>
                  </a:schemeClr>
                </a:solidFill>
                <a:effectLst/>
              </a:rPr>
              <a:t>Role and Responsibilities</a:t>
            </a:r>
            <a:br>
              <a:rPr lang="en-US" sz="2400" b="0" i="0" dirty="0">
                <a:solidFill>
                  <a:schemeClr val="bg1">
                    <a:alpha val="80000"/>
                  </a:schemeClr>
                </a:solidFill>
                <a:effectLst/>
              </a:rPr>
            </a:br>
            <a:endParaRPr lang="en-US" sz="2400" b="1" dirty="0">
              <a:solidFill>
                <a:schemeClr val="bg1">
                  <a:alpha val="80000"/>
                </a:schemeClr>
              </a:solidFill>
            </a:endParaRPr>
          </a:p>
          <a:p>
            <a:pPr indent="-228600" algn="ctr">
              <a:lnSpc>
                <a:spcPct val="90000"/>
              </a:lnSpc>
              <a:spcBef>
                <a:spcPct val="0"/>
              </a:spcBef>
              <a:spcAft>
                <a:spcPts val="600"/>
              </a:spcAft>
              <a:buFont typeface="Arial" panose="020B0604020202020204" pitchFamily="34" charset="0"/>
              <a:buChar char="•"/>
            </a:pPr>
            <a:endParaRPr lang="en-US" sz="2400" b="1" dirty="0">
              <a:solidFill>
                <a:schemeClr val="bg1">
                  <a:alpha val="80000"/>
                </a:schemeClr>
              </a:solidFill>
            </a:endParaRPr>
          </a:p>
        </p:txBody>
      </p:sp>
      <p:sp>
        <p:nvSpPr>
          <p:cNvPr id="2" name="TextBox 1">
            <a:extLst>
              <a:ext uri="{FF2B5EF4-FFF2-40B4-BE49-F238E27FC236}">
                <a16:creationId xmlns:a16="http://schemas.microsoft.com/office/drawing/2014/main" id="{40784676-1666-E24D-94A5-7779D690E24A}"/>
              </a:ext>
            </a:extLst>
          </p:cNvPr>
          <p:cNvSpPr txBox="1"/>
          <p:nvPr/>
        </p:nvSpPr>
        <p:spPr>
          <a:xfrm>
            <a:off x="838199" y="1065862"/>
            <a:ext cx="6052955" cy="4726276"/>
          </a:xfrm>
          <a:prstGeom prst="rect">
            <a:avLst/>
          </a:prstGeom>
        </p:spPr>
        <p:txBody>
          <a:bodyPr vert="horz" lIns="91440" tIns="45720" rIns="91440" bIns="45720" rtlCol="0" anchor="ctr">
            <a:normAutofit/>
          </a:bodyPr>
          <a:lstStyle/>
          <a:p>
            <a:pPr algn="r">
              <a:lnSpc>
                <a:spcPct val="90000"/>
              </a:lnSpc>
              <a:spcBef>
                <a:spcPct val="0"/>
              </a:spcBef>
              <a:spcAft>
                <a:spcPts val="600"/>
              </a:spcAft>
            </a:pPr>
            <a:endParaRPr lang="en-US" sz="8000" b="1" dirty="0">
              <a:ln w="22225">
                <a:solidFill>
                  <a:srgbClr val="FFFFFF"/>
                </a:solidFill>
              </a:ln>
              <a:noFill/>
              <a:latin typeface="+mj-lt"/>
              <a:ea typeface="+mj-ea"/>
              <a:cs typeface="+mj-cs"/>
            </a:endParaRPr>
          </a:p>
        </p:txBody>
      </p:sp>
    </p:spTree>
    <p:extLst>
      <p:ext uri="{BB962C8B-B14F-4D97-AF65-F5344CB8AC3E}">
        <p14:creationId xmlns:p14="http://schemas.microsoft.com/office/powerpoint/2010/main" val="3674493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C700CD00-DF3E-4660-A6EC-A18C3B7F9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Dog Trainer">
            <a:extLst>
              <a:ext uri="{FF2B5EF4-FFF2-40B4-BE49-F238E27FC236}">
                <a16:creationId xmlns:a16="http://schemas.microsoft.com/office/drawing/2014/main" id="{52F9303F-378E-AD3B-C617-734C07AED3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4203" b="2089"/>
          <a:stretch/>
        </p:blipFill>
        <p:spPr bwMode="auto">
          <a:xfrm>
            <a:off x="6" y="2"/>
            <a:ext cx="6000749" cy="3342653"/>
          </a:xfrm>
          <a:custGeom>
            <a:avLst/>
            <a:gdLst/>
            <a:ahLst/>
            <a:cxnLst/>
            <a:rect l="l" t="t" r="r" b="b"/>
            <a:pathLst>
              <a:path w="6000749" h="3342653">
                <a:moveTo>
                  <a:pt x="0" y="0"/>
                </a:moveTo>
                <a:lnTo>
                  <a:pt x="6000749" y="0"/>
                </a:lnTo>
                <a:lnTo>
                  <a:pt x="6000749" y="3198652"/>
                </a:lnTo>
                <a:lnTo>
                  <a:pt x="5572124" y="3171203"/>
                </a:lnTo>
                <a:lnTo>
                  <a:pt x="0" y="3342653"/>
                </a:lnTo>
                <a:close/>
              </a:path>
            </a:pathLst>
          </a:custGeom>
          <a:noFill/>
          <a:extLst>
            <a:ext uri="{909E8E84-426E-40DD-AFC4-6F175D3DCCD1}">
              <a14:hiddenFill xmlns:a14="http://schemas.microsoft.com/office/drawing/2010/main">
                <a:solidFill>
                  <a:srgbClr val="FFFFFF"/>
                </a:solidFill>
              </a14:hiddenFill>
            </a:ext>
          </a:extLst>
        </p:spPr>
      </p:pic>
      <p:pic>
        <p:nvPicPr>
          <p:cNvPr id="5122" name="Picture 2" descr="dog being examined by a veterinarian. - pet psychologist  work settings stock pictures, royalty-free photos &amp; images">
            <a:extLst>
              <a:ext uri="{FF2B5EF4-FFF2-40B4-BE49-F238E27FC236}">
                <a16:creationId xmlns:a16="http://schemas.microsoft.com/office/drawing/2014/main" id="{C35875D7-4F1A-957A-77BF-F45E4B558E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 b="14647"/>
          <a:stretch/>
        </p:blipFill>
        <p:spPr bwMode="auto">
          <a:xfrm>
            <a:off x="6191245" y="2"/>
            <a:ext cx="6000750" cy="3418853"/>
          </a:xfrm>
          <a:custGeom>
            <a:avLst/>
            <a:gdLst/>
            <a:ahLst/>
            <a:cxnLst/>
            <a:rect l="l" t="t" r="r" b="b"/>
            <a:pathLst>
              <a:path w="6000750" h="3418853">
                <a:moveTo>
                  <a:pt x="0" y="0"/>
                </a:moveTo>
                <a:lnTo>
                  <a:pt x="6000750" y="0"/>
                </a:lnTo>
                <a:lnTo>
                  <a:pt x="6000750" y="227978"/>
                </a:lnTo>
                <a:lnTo>
                  <a:pt x="6000750" y="2065168"/>
                </a:lnTo>
                <a:lnTo>
                  <a:pt x="6000750" y="3342653"/>
                </a:lnTo>
                <a:lnTo>
                  <a:pt x="3248025" y="3418853"/>
                </a:lnTo>
                <a:lnTo>
                  <a:pt x="0" y="3210852"/>
                </a:lnTo>
                <a:close/>
              </a:path>
            </a:pathLst>
          </a:custGeom>
          <a:noFill/>
          <a:extLst>
            <a:ext uri="{909E8E84-426E-40DD-AFC4-6F175D3DCCD1}">
              <a14:hiddenFill xmlns:a14="http://schemas.microsoft.com/office/drawing/2010/main">
                <a:solidFill>
                  <a:srgbClr val="FFFFFF"/>
                </a:solidFill>
              </a14:hiddenFill>
            </a:ext>
          </a:extLst>
        </p:spPr>
      </p:pic>
      <p:grpSp>
        <p:nvGrpSpPr>
          <p:cNvPr id="5131" name="Group 5130">
            <a:extLst>
              <a:ext uri="{FF2B5EF4-FFF2-40B4-BE49-F238E27FC236}">
                <a16:creationId xmlns:a16="http://schemas.microsoft.com/office/drawing/2014/main" id="{F9AB5DBD-0A57-4DBC-B49F-205E268F1F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59818"/>
            <a:ext cx="12192000" cy="757168"/>
            <a:chOff x="0" y="2959818"/>
            <a:chExt cx="12192000" cy="757168"/>
          </a:xfrm>
        </p:grpSpPr>
        <p:sp>
          <p:nvSpPr>
            <p:cNvPr id="5132" name="Freeform: Shape 5131">
              <a:extLst>
                <a:ext uri="{FF2B5EF4-FFF2-40B4-BE49-F238E27FC236}">
                  <a16:creationId xmlns:a16="http://schemas.microsoft.com/office/drawing/2014/main" id="{21DE7FF6-DA62-40A9-8F5D-F82D3020F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33" name="Freeform: Shape 5132">
              <a:extLst>
                <a:ext uri="{FF2B5EF4-FFF2-40B4-BE49-F238E27FC236}">
                  <a16:creationId xmlns:a16="http://schemas.microsoft.com/office/drawing/2014/main" id="{9D38D133-BB29-4B7D-AFB2-7D132F45A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5">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extBox 2">
            <a:extLst>
              <a:ext uri="{FF2B5EF4-FFF2-40B4-BE49-F238E27FC236}">
                <a16:creationId xmlns:a16="http://schemas.microsoft.com/office/drawing/2014/main" id="{CBD74F6A-5550-8FA5-E5A6-FCB3D6069072}"/>
              </a:ext>
            </a:extLst>
          </p:cNvPr>
          <p:cNvSpPr txBox="1"/>
          <p:nvPr/>
        </p:nvSpPr>
        <p:spPr>
          <a:xfrm>
            <a:off x="3498846" y="4169354"/>
            <a:ext cx="5692774" cy="1648849"/>
          </a:xfrm>
          <a:prstGeom prst="rect">
            <a:avLst/>
          </a:prstGeom>
        </p:spPr>
        <p:txBody>
          <a:bodyPr vert="horz" lIns="91440" tIns="45720" rIns="91440" bIns="45720" rtlCol="0">
            <a:normAutofit/>
          </a:bodyPr>
          <a:lstStyle/>
          <a:p>
            <a:pPr algn="ctr">
              <a:lnSpc>
                <a:spcPct val="90000"/>
              </a:lnSpc>
              <a:spcBef>
                <a:spcPct val="0"/>
              </a:spcBef>
              <a:spcAft>
                <a:spcPts val="600"/>
              </a:spcAft>
            </a:pPr>
            <a:r>
              <a:rPr lang="en-US" sz="2400" b="0" i="0" dirty="0">
                <a:solidFill>
                  <a:schemeClr val="bg1">
                    <a:alpha val="80000"/>
                  </a:schemeClr>
                </a:solidFill>
                <a:effectLst/>
              </a:rPr>
              <a:t>Pet psychologist</a:t>
            </a:r>
          </a:p>
          <a:p>
            <a:pPr indent="-228600" algn="ctr">
              <a:lnSpc>
                <a:spcPct val="90000"/>
              </a:lnSpc>
              <a:spcBef>
                <a:spcPct val="0"/>
              </a:spcBef>
              <a:spcAft>
                <a:spcPts val="600"/>
              </a:spcAft>
              <a:buFont typeface="Arial" panose="020B0604020202020204" pitchFamily="34" charset="0"/>
              <a:buChar char="•"/>
            </a:pPr>
            <a:endParaRPr lang="en-US" sz="2400" dirty="0">
              <a:solidFill>
                <a:schemeClr val="bg1">
                  <a:alpha val="80000"/>
                </a:schemeClr>
              </a:solidFill>
            </a:endParaRPr>
          </a:p>
          <a:p>
            <a:pPr algn="ctr">
              <a:lnSpc>
                <a:spcPct val="90000"/>
              </a:lnSpc>
              <a:spcBef>
                <a:spcPct val="0"/>
              </a:spcBef>
              <a:spcAft>
                <a:spcPts val="600"/>
              </a:spcAft>
            </a:pPr>
            <a:r>
              <a:rPr lang="en-US" sz="2400" b="0" i="0" dirty="0">
                <a:solidFill>
                  <a:schemeClr val="bg1">
                    <a:alpha val="80000"/>
                  </a:schemeClr>
                </a:solidFill>
                <a:effectLst/>
              </a:rPr>
              <a:t>Work Settings</a:t>
            </a:r>
            <a:br>
              <a:rPr lang="en-US" sz="2400" b="0" i="0" dirty="0">
                <a:solidFill>
                  <a:schemeClr val="bg1">
                    <a:alpha val="80000"/>
                  </a:schemeClr>
                </a:solidFill>
                <a:effectLst/>
              </a:rPr>
            </a:br>
            <a:endParaRPr lang="en-US" sz="2400" b="1" dirty="0">
              <a:solidFill>
                <a:schemeClr val="bg1">
                  <a:alpha val="80000"/>
                </a:schemeClr>
              </a:solidFill>
            </a:endParaRPr>
          </a:p>
        </p:txBody>
      </p:sp>
      <p:sp>
        <p:nvSpPr>
          <p:cNvPr id="2" name="TextBox 1">
            <a:extLst>
              <a:ext uri="{FF2B5EF4-FFF2-40B4-BE49-F238E27FC236}">
                <a16:creationId xmlns:a16="http://schemas.microsoft.com/office/drawing/2014/main" id="{40784676-1666-E24D-94A5-7779D690E24A}"/>
              </a:ext>
            </a:extLst>
          </p:cNvPr>
          <p:cNvSpPr txBox="1"/>
          <p:nvPr/>
        </p:nvSpPr>
        <p:spPr>
          <a:xfrm>
            <a:off x="838199" y="1065862"/>
            <a:ext cx="6052955" cy="4726276"/>
          </a:xfrm>
          <a:prstGeom prst="rect">
            <a:avLst/>
          </a:prstGeom>
        </p:spPr>
        <p:txBody>
          <a:bodyPr vert="horz" lIns="91440" tIns="45720" rIns="91440" bIns="45720" rtlCol="0" anchor="ctr">
            <a:normAutofit/>
          </a:bodyPr>
          <a:lstStyle/>
          <a:p>
            <a:pPr algn="r">
              <a:lnSpc>
                <a:spcPct val="90000"/>
              </a:lnSpc>
              <a:spcBef>
                <a:spcPct val="0"/>
              </a:spcBef>
              <a:spcAft>
                <a:spcPts val="600"/>
              </a:spcAft>
            </a:pPr>
            <a:endParaRPr lang="en-US" sz="8000" b="1" dirty="0">
              <a:ln w="22225">
                <a:solidFill>
                  <a:srgbClr val="FFFFFF"/>
                </a:solidFill>
              </a:ln>
              <a:noFill/>
              <a:latin typeface="+mj-lt"/>
              <a:ea typeface="+mj-ea"/>
              <a:cs typeface="+mj-cs"/>
            </a:endParaRPr>
          </a:p>
        </p:txBody>
      </p:sp>
    </p:spTree>
    <p:extLst>
      <p:ext uri="{BB962C8B-B14F-4D97-AF65-F5344CB8AC3E}">
        <p14:creationId xmlns:p14="http://schemas.microsoft.com/office/powerpoint/2010/main" val="1133172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68" name="Rectangle 6167">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146" name="Picture 2" descr="How Pet Food Tasters Work | HowStuffWorks">
            <a:extLst>
              <a:ext uri="{FF2B5EF4-FFF2-40B4-BE49-F238E27FC236}">
                <a16:creationId xmlns:a16="http://schemas.microsoft.com/office/drawing/2014/main" id="{2C14F0C3-A916-B1E6-8454-36A75945BFA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0421" y="582591"/>
            <a:ext cx="3217333" cy="259960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canine influencer to taste test dog food">
            <a:extLst>
              <a:ext uri="{FF2B5EF4-FFF2-40B4-BE49-F238E27FC236}">
                <a16:creationId xmlns:a16="http://schemas.microsoft.com/office/drawing/2014/main" id="{B890037E-3DC9-9FA1-7B99-B561C1858B4D}"/>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809076" y="848251"/>
            <a:ext cx="3217333" cy="2068285"/>
          </a:xfrm>
          <a:prstGeom prst="rect">
            <a:avLst/>
          </a:prstGeom>
          <a:noFill/>
          <a:extLst>
            <a:ext uri="{909E8E84-426E-40DD-AFC4-6F175D3DCCD1}">
              <a14:hiddenFill xmlns:a14="http://schemas.microsoft.com/office/drawing/2010/main">
                <a:solidFill>
                  <a:srgbClr val="FFFFFF"/>
                </a:solidFill>
              </a14:hiddenFill>
            </a:ext>
          </a:extLst>
        </p:spPr>
      </p:pic>
      <p:grpSp>
        <p:nvGrpSpPr>
          <p:cNvPr id="6170"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918" y="3541604"/>
            <a:ext cx="1910252" cy="709660"/>
            <a:chOff x="2267504" y="2540250"/>
            <a:chExt cx="1990951" cy="739640"/>
          </a:xfrm>
          <a:solidFill>
            <a:schemeClr val="bg1"/>
          </a:solidFill>
        </p:grpSpPr>
        <p:sp>
          <p:nvSpPr>
            <p:cNvPr id="6171" name="Freeform: Shape 6170">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6172" name="Freeform: Shape 6171">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pic>
        <p:nvPicPr>
          <p:cNvPr id="6148" name="Picture 4" descr="Tasting dog food ...">
            <a:extLst>
              <a:ext uri="{FF2B5EF4-FFF2-40B4-BE49-F238E27FC236}">
                <a16:creationId xmlns:a16="http://schemas.microsoft.com/office/drawing/2014/main" id="{F460816E-8EED-9ACD-B767-4707DEC44B83}"/>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625273" y="3941033"/>
            <a:ext cx="3217333" cy="1807732"/>
          </a:xfrm>
          <a:prstGeom prst="rect">
            <a:avLst/>
          </a:prstGeom>
          <a:noFill/>
          <a:extLst>
            <a:ext uri="{909E8E84-426E-40DD-AFC4-6F175D3DCCD1}">
              <a14:hiddenFill xmlns:a14="http://schemas.microsoft.com/office/drawing/2010/main">
                <a:solidFill>
                  <a:srgbClr val="FFFFFF"/>
                </a:solidFill>
              </a14:hiddenFill>
            </a:ext>
          </a:extLst>
        </p:spPr>
      </p:pic>
      <p:sp>
        <p:nvSpPr>
          <p:cNvPr id="6174" name="Graphic 212">
            <a:extLst>
              <a:ext uri="{FF2B5EF4-FFF2-40B4-BE49-F238E27FC236}">
                <a16:creationId xmlns:a16="http://schemas.microsoft.com/office/drawing/2014/main" id="{E7C065BD-BDC2-4800-908F-25C30F042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6803" y="4091012"/>
            <a:ext cx="869294" cy="86929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6176" name="Graphic 212">
            <a:extLst>
              <a:ext uri="{FF2B5EF4-FFF2-40B4-BE49-F238E27FC236}">
                <a16:creationId xmlns:a16="http://schemas.microsoft.com/office/drawing/2014/main" id="{612A1BC7-2F25-41BC-A0DC-8680CE996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6803" y="4091012"/>
            <a:ext cx="869294" cy="86929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 name="TextBox 2">
            <a:extLst>
              <a:ext uri="{FF2B5EF4-FFF2-40B4-BE49-F238E27FC236}">
                <a16:creationId xmlns:a16="http://schemas.microsoft.com/office/drawing/2014/main" id="{CBD74F6A-5550-8FA5-E5A6-FCB3D6069072}"/>
              </a:ext>
            </a:extLst>
          </p:cNvPr>
          <p:cNvSpPr txBox="1"/>
          <p:nvPr/>
        </p:nvSpPr>
        <p:spPr>
          <a:xfrm>
            <a:off x="7508604" y="2455101"/>
            <a:ext cx="3943437" cy="3720770"/>
          </a:xfrm>
          <a:prstGeom prst="rect">
            <a:avLst/>
          </a:prstGeom>
        </p:spPr>
        <p:txBody>
          <a:bodyPr vert="horz" lIns="91440" tIns="45720" rIns="91440" bIns="45720" rtlCol="0">
            <a:normAutofit/>
          </a:bodyPr>
          <a:lstStyle/>
          <a:p>
            <a:pPr algn="ctr">
              <a:lnSpc>
                <a:spcPct val="90000"/>
              </a:lnSpc>
              <a:spcBef>
                <a:spcPct val="0"/>
              </a:spcBef>
              <a:spcAft>
                <a:spcPts val="600"/>
              </a:spcAft>
            </a:pPr>
            <a:r>
              <a:rPr lang="en-US" dirty="0">
                <a:solidFill>
                  <a:schemeClr val="bg1"/>
                </a:solidFill>
              </a:rPr>
              <a:t>Dog Food Taster</a:t>
            </a:r>
            <a:endParaRPr lang="en-US" b="0" i="0" dirty="0">
              <a:solidFill>
                <a:schemeClr val="bg1"/>
              </a:solidFill>
              <a:effectLst/>
            </a:endParaRPr>
          </a:p>
          <a:p>
            <a:pPr indent="-228600" algn="ctr">
              <a:lnSpc>
                <a:spcPct val="90000"/>
              </a:lnSpc>
              <a:spcBef>
                <a:spcPct val="0"/>
              </a:spcBef>
              <a:spcAft>
                <a:spcPts val="600"/>
              </a:spcAft>
              <a:buFont typeface="Arial" panose="020B0604020202020204" pitchFamily="34" charset="0"/>
              <a:buChar char="•"/>
            </a:pPr>
            <a:endParaRPr lang="en-US" dirty="0">
              <a:solidFill>
                <a:schemeClr val="bg1"/>
              </a:solidFill>
            </a:endParaRPr>
          </a:p>
          <a:p>
            <a:pPr algn="ctr">
              <a:lnSpc>
                <a:spcPct val="90000"/>
              </a:lnSpc>
              <a:spcBef>
                <a:spcPct val="0"/>
              </a:spcBef>
              <a:spcAft>
                <a:spcPts val="600"/>
              </a:spcAft>
            </a:pPr>
            <a:r>
              <a:rPr lang="en-US" b="1" i="0" dirty="0">
                <a:solidFill>
                  <a:schemeClr val="bg1"/>
                </a:solidFill>
                <a:effectLst/>
              </a:rPr>
              <a:t>Role and Responsibilities</a:t>
            </a:r>
            <a:br>
              <a:rPr lang="en-US" b="0" i="0" dirty="0">
                <a:solidFill>
                  <a:schemeClr val="bg1"/>
                </a:solidFill>
                <a:effectLst/>
              </a:rPr>
            </a:br>
            <a:endParaRPr lang="en-US" b="1" dirty="0">
              <a:solidFill>
                <a:schemeClr val="bg1"/>
              </a:solidFill>
            </a:endParaRPr>
          </a:p>
          <a:p>
            <a:pPr indent="-228600" algn="ctr">
              <a:lnSpc>
                <a:spcPct val="90000"/>
              </a:lnSpc>
              <a:spcBef>
                <a:spcPct val="0"/>
              </a:spcBef>
              <a:spcAft>
                <a:spcPts val="600"/>
              </a:spcAft>
              <a:buFont typeface="Arial" panose="020B0604020202020204" pitchFamily="34" charset="0"/>
              <a:buChar char="•"/>
            </a:pPr>
            <a:endParaRPr lang="en-US" b="1" dirty="0">
              <a:solidFill>
                <a:schemeClr val="bg1"/>
              </a:solidFill>
            </a:endParaRPr>
          </a:p>
          <a:p>
            <a:pPr indent="-228600" algn="ctr">
              <a:lnSpc>
                <a:spcPct val="90000"/>
              </a:lnSpc>
              <a:spcBef>
                <a:spcPct val="0"/>
              </a:spcBef>
              <a:spcAft>
                <a:spcPts val="600"/>
              </a:spcAft>
              <a:buFont typeface="Arial" panose="020B0604020202020204" pitchFamily="34" charset="0"/>
              <a:buChar char="•"/>
            </a:pPr>
            <a:endParaRPr lang="en-US" b="1" dirty="0">
              <a:solidFill>
                <a:schemeClr val="bg1"/>
              </a:solidFill>
            </a:endParaRPr>
          </a:p>
        </p:txBody>
      </p:sp>
      <p:sp>
        <p:nvSpPr>
          <p:cNvPr id="2" name="TextBox 1">
            <a:extLst>
              <a:ext uri="{FF2B5EF4-FFF2-40B4-BE49-F238E27FC236}">
                <a16:creationId xmlns:a16="http://schemas.microsoft.com/office/drawing/2014/main" id="{40784676-1666-E24D-94A5-7779D690E24A}"/>
              </a:ext>
            </a:extLst>
          </p:cNvPr>
          <p:cNvSpPr txBox="1"/>
          <p:nvPr/>
        </p:nvSpPr>
        <p:spPr>
          <a:xfrm>
            <a:off x="838199" y="1065862"/>
            <a:ext cx="6052955" cy="4726276"/>
          </a:xfrm>
          <a:prstGeom prst="rect">
            <a:avLst/>
          </a:prstGeom>
        </p:spPr>
        <p:txBody>
          <a:bodyPr vert="horz" lIns="91440" tIns="45720" rIns="91440" bIns="45720" rtlCol="0" anchor="ctr">
            <a:normAutofit/>
          </a:bodyPr>
          <a:lstStyle/>
          <a:p>
            <a:pPr algn="r">
              <a:lnSpc>
                <a:spcPct val="90000"/>
              </a:lnSpc>
              <a:spcBef>
                <a:spcPct val="0"/>
              </a:spcBef>
              <a:spcAft>
                <a:spcPts val="600"/>
              </a:spcAft>
            </a:pPr>
            <a:endParaRPr lang="en-US" sz="8000" b="1" dirty="0">
              <a:ln w="22225">
                <a:solidFill>
                  <a:srgbClr val="FFFFFF"/>
                </a:solidFill>
              </a:ln>
              <a:noFill/>
              <a:latin typeface="+mj-lt"/>
              <a:ea typeface="+mj-ea"/>
              <a:cs typeface="+mj-cs"/>
            </a:endParaRPr>
          </a:p>
        </p:txBody>
      </p:sp>
    </p:spTree>
    <p:extLst>
      <p:ext uri="{BB962C8B-B14F-4D97-AF65-F5344CB8AC3E}">
        <p14:creationId xmlns:p14="http://schemas.microsoft.com/office/powerpoint/2010/main" val="2975340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9" name="Rectangle 717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Become a Pet Food Taster. If you're a ...">
            <a:extLst>
              <a:ext uri="{FF2B5EF4-FFF2-40B4-BE49-F238E27FC236}">
                <a16:creationId xmlns:a16="http://schemas.microsoft.com/office/drawing/2014/main" id="{2119DA11-F1C8-2DF5-8BBD-D4A828DE224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45084" y="448390"/>
            <a:ext cx="2868007" cy="2868007"/>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15 Most Unusual Jobs People Actually Do ...">
            <a:extLst>
              <a:ext uri="{FF2B5EF4-FFF2-40B4-BE49-F238E27FC236}">
                <a16:creationId xmlns:a16="http://schemas.microsoft.com/office/drawing/2014/main" id="{CC4EC549-BB56-FF84-C003-B08758822502}"/>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3809076" y="811899"/>
            <a:ext cx="3217333" cy="2140988"/>
          </a:xfrm>
          <a:prstGeom prst="rect">
            <a:avLst/>
          </a:prstGeom>
          <a:noFill/>
          <a:extLst>
            <a:ext uri="{909E8E84-426E-40DD-AFC4-6F175D3DCCD1}">
              <a14:hiddenFill xmlns:a14="http://schemas.microsoft.com/office/drawing/2010/main">
                <a:solidFill>
                  <a:srgbClr val="FFFFFF"/>
                </a:solidFill>
              </a14:hiddenFill>
            </a:ext>
          </a:extLst>
        </p:spPr>
      </p:pic>
      <p:grpSp>
        <p:nvGrpSpPr>
          <p:cNvPr id="7181"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6918" y="3541604"/>
            <a:ext cx="1910252" cy="709660"/>
            <a:chOff x="2267504" y="2540250"/>
            <a:chExt cx="1990951" cy="739640"/>
          </a:xfrm>
          <a:solidFill>
            <a:schemeClr val="bg1"/>
          </a:solidFill>
        </p:grpSpPr>
        <p:sp>
          <p:nvSpPr>
            <p:cNvPr id="7176" name="Freeform: Shape 7181">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7177" name="Freeform: Shape 7182">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pic>
        <p:nvPicPr>
          <p:cNvPr id="7174" name="Picture 6" descr="The Strangest Jobs in Australia ...">
            <a:extLst>
              <a:ext uri="{FF2B5EF4-FFF2-40B4-BE49-F238E27FC236}">
                <a16:creationId xmlns:a16="http://schemas.microsoft.com/office/drawing/2014/main" id="{A6874647-23C1-67D3-EB19-8E1CE96551E0}"/>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2152563" y="3606851"/>
            <a:ext cx="3943437" cy="2624177"/>
          </a:xfrm>
          <a:prstGeom prst="rect">
            <a:avLst/>
          </a:prstGeom>
          <a:noFill/>
          <a:extLst>
            <a:ext uri="{909E8E84-426E-40DD-AFC4-6F175D3DCCD1}">
              <a14:hiddenFill xmlns:a14="http://schemas.microsoft.com/office/drawing/2010/main">
                <a:solidFill>
                  <a:srgbClr val="FFFFFF"/>
                </a:solidFill>
              </a14:hiddenFill>
            </a:ext>
          </a:extLst>
        </p:spPr>
      </p:pic>
      <p:sp>
        <p:nvSpPr>
          <p:cNvPr id="7185" name="Graphic 212">
            <a:extLst>
              <a:ext uri="{FF2B5EF4-FFF2-40B4-BE49-F238E27FC236}">
                <a16:creationId xmlns:a16="http://schemas.microsoft.com/office/drawing/2014/main" id="{E7C065BD-BDC2-4800-908F-25C30F042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6803" y="4091012"/>
            <a:ext cx="869294" cy="86929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7187" name="Graphic 212">
            <a:extLst>
              <a:ext uri="{FF2B5EF4-FFF2-40B4-BE49-F238E27FC236}">
                <a16:creationId xmlns:a16="http://schemas.microsoft.com/office/drawing/2014/main" id="{612A1BC7-2F25-41BC-A0DC-8680CE996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6803" y="4091012"/>
            <a:ext cx="869294" cy="86929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lt1"/>
              </a:solidFill>
            </a:endParaRPr>
          </a:p>
        </p:txBody>
      </p:sp>
      <p:sp>
        <p:nvSpPr>
          <p:cNvPr id="3" name="TextBox 2">
            <a:extLst>
              <a:ext uri="{FF2B5EF4-FFF2-40B4-BE49-F238E27FC236}">
                <a16:creationId xmlns:a16="http://schemas.microsoft.com/office/drawing/2014/main" id="{CBD74F6A-5550-8FA5-E5A6-FCB3D6069072}"/>
              </a:ext>
            </a:extLst>
          </p:cNvPr>
          <p:cNvSpPr txBox="1"/>
          <p:nvPr/>
        </p:nvSpPr>
        <p:spPr>
          <a:xfrm>
            <a:off x="7508604" y="2455101"/>
            <a:ext cx="3943437" cy="3720770"/>
          </a:xfrm>
          <a:prstGeom prst="rect">
            <a:avLst/>
          </a:prstGeom>
        </p:spPr>
        <p:txBody>
          <a:bodyPr vert="horz" lIns="91440" tIns="45720" rIns="91440" bIns="45720" rtlCol="0">
            <a:normAutofit/>
          </a:bodyPr>
          <a:lstStyle/>
          <a:p>
            <a:pPr algn="ctr">
              <a:lnSpc>
                <a:spcPct val="90000"/>
              </a:lnSpc>
              <a:spcBef>
                <a:spcPct val="0"/>
              </a:spcBef>
              <a:spcAft>
                <a:spcPts val="600"/>
              </a:spcAft>
            </a:pPr>
            <a:r>
              <a:rPr lang="en-US" sz="2400" dirty="0">
                <a:solidFill>
                  <a:schemeClr val="bg1"/>
                </a:solidFill>
              </a:rPr>
              <a:t>Dog Food Taster</a:t>
            </a:r>
            <a:endParaRPr lang="en-US" sz="2400" b="0" i="0" dirty="0">
              <a:solidFill>
                <a:schemeClr val="bg1"/>
              </a:solidFill>
              <a:effectLst/>
            </a:endParaRPr>
          </a:p>
          <a:p>
            <a:pPr algn="ctr">
              <a:lnSpc>
                <a:spcPct val="90000"/>
              </a:lnSpc>
              <a:spcBef>
                <a:spcPct val="0"/>
              </a:spcBef>
              <a:spcAft>
                <a:spcPts val="600"/>
              </a:spcAft>
            </a:pPr>
            <a:endParaRPr lang="en-US" sz="2400" dirty="0">
              <a:solidFill>
                <a:schemeClr val="bg1"/>
              </a:solidFill>
            </a:endParaRPr>
          </a:p>
          <a:p>
            <a:pPr algn="ctr">
              <a:lnSpc>
                <a:spcPct val="90000"/>
              </a:lnSpc>
              <a:spcBef>
                <a:spcPct val="0"/>
              </a:spcBef>
              <a:spcAft>
                <a:spcPts val="600"/>
              </a:spcAft>
            </a:pPr>
            <a:r>
              <a:rPr lang="en-US" sz="2400" b="1" dirty="0">
                <a:solidFill>
                  <a:schemeClr val="bg1"/>
                </a:solidFill>
              </a:rPr>
              <a:t>Work Settings</a:t>
            </a:r>
            <a:br>
              <a:rPr lang="en-US" sz="2400" b="0" i="0" dirty="0">
                <a:solidFill>
                  <a:schemeClr val="bg1"/>
                </a:solidFill>
                <a:effectLst/>
              </a:rPr>
            </a:br>
            <a:endParaRPr lang="en-US" sz="2400" b="1" dirty="0">
              <a:solidFill>
                <a:schemeClr val="bg1"/>
              </a:solidFill>
            </a:endParaRPr>
          </a:p>
          <a:p>
            <a:pPr indent="-228600" algn="ctr">
              <a:lnSpc>
                <a:spcPct val="90000"/>
              </a:lnSpc>
              <a:spcBef>
                <a:spcPct val="0"/>
              </a:spcBef>
              <a:spcAft>
                <a:spcPts val="600"/>
              </a:spcAft>
              <a:buFont typeface="Arial" panose="020B0604020202020204" pitchFamily="34" charset="0"/>
              <a:buChar char="•"/>
            </a:pPr>
            <a:endParaRPr lang="en-US" sz="2400" b="1" dirty="0">
              <a:solidFill>
                <a:schemeClr val="bg1"/>
              </a:solidFill>
            </a:endParaRPr>
          </a:p>
          <a:p>
            <a:pPr indent="-228600" algn="ctr">
              <a:lnSpc>
                <a:spcPct val="90000"/>
              </a:lnSpc>
              <a:spcBef>
                <a:spcPct val="0"/>
              </a:spcBef>
              <a:spcAft>
                <a:spcPts val="600"/>
              </a:spcAft>
              <a:buFont typeface="Arial" panose="020B0604020202020204" pitchFamily="34" charset="0"/>
              <a:buChar char="•"/>
            </a:pPr>
            <a:endParaRPr lang="en-US" sz="2400" b="1" dirty="0">
              <a:solidFill>
                <a:schemeClr val="bg1"/>
              </a:solidFill>
            </a:endParaRPr>
          </a:p>
        </p:txBody>
      </p:sp>
      <p:sp>
        <p:nvSpPr>
          <p:cNvPr id="2" name="TextBox 1">
            <a:extLst>
              <a:ext uri="{FF2B5EF4-FFF2-40B4-BE49-F238E27FC236}">
                <a16:creationId xmlns:a16="http://schemas.microsoft.com/office/drawing/2014/main" id="{40784676-1666-E24D-94A5-7779D690E24A}"/>
              </a:ext>
            </a:extLst>
          </p:cNvPr>
          <p:cNvSpPr txBox="1"/>
          <p:nvPr/>
        </p:nvSpPr>
        <p:spPr>
          <a:xfrm>
            <a:off x="838199" y="1065862"/>
            <a:ext cx="6052955" cy="4726276"/>
          </a:xfrm>
          <a:prstGeom prst="rect">
            <a:avLst/>
          </a:prstGeom>
        </p:spPr>
        <p:txBody>
          <a:bodyPr vert="horz" lIns="91440" tIns="45720" rIns="91440" bIns="45720" rtlCol="0" anchor="ctr">
            <a:normAutofit/>
          </a:bodyPr>
          <a:lstStyle/>
          <a:p>
            <a:pPr algn="r">
              <a:lnSpc>
                <a:spcPct val="90000"/>
              </a:lnSpc>
              <a:spcBef>
                <a:spcPct val="0"/>
              </a:spcBef>
              <a:spcAft>
                <a:spcPts val="600"/>
              </a:spcAft>
            </a:pPr>
            <a:endParaRPr lang="en-US" sz="8000" b="1" dirty="0">
              <a:ln w="22225">
                <a:solidFill>
                  <a:srgbClr val="FFFFFF"/>
                </a:solidFill>
              </a:ln>
              <a:noFill/>
              <a:latin typeface="+mj-lt"/>
              <a:ea typeface="+mj-ea"/>
              <a:cs typeface="+mj-cs"/>
            </a:endParaRPr>
          </a:p>
        </p:txBody>
      </p:sp>
    </p:spTree>
    <p:extLst>
      <p:ext uri="{BB962C8B-B14F-4D97-AF65-F5344CB8AC3E}">
        <p14:creationId xmlns:p14="http://schemas.microsoft.com/office/powerpoint/2010/main" val="134489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8" name="Rectangle 417">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4" name="Picture 413">
            <a:extLst>
              <a:ext uri="{FF2B5EF4-FFF2-40B4-BE49-F238E27FC236}">
                <a16:creationId xmlns:a16="http://schemas.microsoft.com/office/drawing/2014/main" id="{0988B8E3-7045-7AF1-E3CC-6E96859B85F2}"/>
              </a:ext>
            </a:extLst>
          </p:cNvPr>
          <p:cNvPicPr>
            <a:picLocks noChangeAspect="1"/>
          </p:cNvPicPr>
          <p:nvPr/>
        </p:nvPicPr>
        <p:blipFill>
          <a:blip r:embed="rId3">
            <a:alphaModFix amt="35000"/>
          </a:blip>
          <a:srcRect b="15730"/>
          <a:stretch/>
        </p:blipFill>
        <p:spPr>
          <a:xfrm>
            <a:off x="20" y="10"/>
            <a:ext cx="12191980" cy="6857990"/>
          </a:xfrm>
          <a:prstGeom prst="rect">
            <a:avLst/>
          </a:prstGeom>
        </p:spPr>
      </p:pic>
      <p:sp>
        <p:nvSpPr>
          <p:cNvPr id="2" name="TextBox 1">
            <a:extLst>
              <a:ext uri="{FF2B5EF4-FFF2-40B4-BE49-F238E27FC236}">
                <a16:creationId xmlns:a16="http://schemas.microsoft.com/office/drawing/2014/main" id="{45D74FD3-A993-84AA-7A31-5F25A22D4334}"/>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a:solidFill>
                  <a:srgbClr val="FFFFFF"/>
                </a:solidFill>
                <a:latin typeface="+mj-lt"/>
                <a:ea typeface="+mj-ea"/>
                <a:cs typeface="+mj-cs"/>
              </a:rPr>
              <a:t>IN BRIEF</a:t>
            </a:r>
          </a:p>
        </p:txBody>
      </p:sp>
      <p:graphicFrame>
        <p:nvGraphicFramePr>
          <p:cNvPr id="383" name="TextBox 2">
            <a:extLst>
              <a:ext uri="{FF2B5EF4-FFF2-40B4-BE49-F238E27FC236}">
                <a16:creationId xmlns:a16="http://schemas.microsoft.com/office/drawing/2014/main" id="{844D9FC7-DEFB-6C8C-707F-D73B62227906}"/>
              </a:ext>
            </a:extLst>
          </p:cNvPr>
          <p:cNvGraphicFramePr/>
          <p:nvPr>
            <p:extLst>
              <p:ext uri="{D42A27DB-BD31-4B8C-83A1-F6EECF244321}">
                <p14:modId xmlns:p14="http://schemas.microsoft.com/office/powerpoint/2010/main" val="4940110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66100351"/>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22322</TotalTime>
  <Words>1070</Words>
  <Application>Microsoft Office PowerPoint</Application>
  <PresentationFormat>Широкий екран</PresentationFormat>
  <Paragraphs>99</Paragraphs>
  <Slides>8</Slides>
  <Notes>8</Notes>
  <HiddenSlides>0</HiddenSlides>
  <MMClips>0</MMClips>
  <ScaleCrop>false</ScaleCrop>
  <HeadingPairs>
    <vt:vector size="6" baseType="variant">
      <vt:variant>
        <vt:lpstr>Використані шрифти</vt:lpstr>
      </vt:variant>
      <vt:variant>
        <vt:i4>7</vt:i4>
      </vt:variant>
      <vt:variant>
        <vt:lpstr>Тема</vt:lpstr>
      </vt:variant>
      <vt:variant>
        <vt:i4>1</vt:i4>
      </vt:variant>
      <vt:variant>
        <vt:lpstr>Заголовки слайдів</vt:lpstr>
      </vt:variant>
      <vt:variant>
        <vt:i4>8</vt:i4>
      </vt:variant>
    </vt:vector>
  </HeadingPairs>
  <TitlesOfParts>
    <vt:vector size="16" baseType="lpstr">
      <vt:lpstr>Aptos</vt:lpstr>
      <vt:lpstr>Aptos Display</vt:lpstr>
      <vt:lpstr>Arial</vt:lpstr>
      <vt:lpstr>Indeed Sans</vt:lpstr>
      <vt:lpstr>SegoeUIVariable</vt:lpstr>
      <vt:lpstr>sofia-pro-bold</vt:lpstr>
      <vt:lpstr>sofia-pro-light</vt:lpstr>
      <vt:lpstr>Тема Office</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Мовсісян Лаура</dc:creator>
  <cp:lastModifiedBy>Лаура Мовсисян</cp:lastModifiedBy>
  <cp:revision>20</cp:revision>
  <dcterms:created xsi:type="dcterms:W3CDTF">2024-04-10T16:42:31Z</dcterms:created>
  <dcterms:modified xsi:type="dcterms:W3CDTF">2024-09-22T19:40:38Z</dcterms:modified>
</cp:coreProperties>
</file>