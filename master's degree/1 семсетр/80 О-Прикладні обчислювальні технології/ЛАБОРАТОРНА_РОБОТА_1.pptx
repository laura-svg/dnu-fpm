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10" Type="http://schemas.openxmlformats.org/officeDocument/2006/relationships/image" Target="../media/image16.wmf"/><Relationship Id="rId4" Type="http://schemas.openxmlformats.org/officeDocument/2006/relationships/image" Target="../media/image10.wmf"/><Relationship Id="rId9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70847-9702-4D6E-8B2C-E5DF6A908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95A03D-FD27-4E02-9370-3DFCDD1C76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314E5-29A2-4390-BD42-8DCD68F3D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FFA97-2C85-4E9A-BA0C-5D1B00D3EE54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11781-20A9-43D7-8577-D5D5BEB7E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A400A-6D0A-4595-82BC-5D4A90681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5951-F597-47C0-8E44-45B842827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66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08856-BCA0-434E-8ED1-2D20EBA75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FEDD0-C0E7-480F-91D0-ECAC6ED9B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6234A-71E4-452A-BE76-643035CB8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FFA97-2C85-4E9A-BA0C-5D1B00D3EE54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2C76C-B055-4987-9E88-5E969195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55535-C336-4DF0-8851-E41EBA670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5951-F597-47C0-8E44-45B842827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60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6DB78-8DCF-47E6-85AB-C2F239BA1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BA528-B34E-414D-9E17-672E48B75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94D11-61C8-44F2-95B3-5D96A0EE5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FFA97-2C85-4E9A-BA0C-5D1B00D3EE54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4173B-04F4-4B0C-BCF1-CEFB0F5D3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D4546-7825-4B61-AFFC-F078C5955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5951-F597-47C0-8E44-45B842827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625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FD237-55C2-4A93-968D-55C9C7690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A3095-CF8A-4E1C-9BA8-C0C186BE08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621774-DB4C-4021-8FAF-02E430473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D784F-C9BD-449B-AD67-B180D639A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FFA97-2C85-4E9A-BA0C-5D1B00D3EE54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4AAFFC-9961-4978-9589-39435D3D0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3F9E9-92D8-4A72-908E-4A76C8130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5951-F597-47C0-8E44-45B842827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918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BCF23-254A-4207-A044-3FFE35028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3EA2F-5455-41AE-ABDA-374A8C73D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35464-2EF8-465D-A28E-5E3D722E5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3FE5E-157F-4475-B656-9083245822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8BBA6-2A71-4083-93BC-9307FCCAD5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6188B0-4FB8-4633-9914-7DED87CFE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FFA97-2C85-4E9A-BA0C-5D1B00D3EE54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1EC9A5-BC04-4FE2-8B20-0C0588D5A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C282C-7722-41FB-8F4C-3504BC87A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5951-F597-47C0-8E44-45B842827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70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F6257-C957-45F3-8087-94B893D2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4127F9-C214-4CD3-B535-FAF8F00F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FFA97-2C85-4E9A-BA0C-5D1B00D3EE54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49251A-FC41-4475-BE62-43BD49E87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0C1068-7094-48A1-BCD2-ED3AFCA1A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5951-F597-47C0-8E44-45B842827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322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576D7A-1CD9-4CDF-A632-CAEA379CA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FFA97-2C85-4E9A-BA0C-5D1B00D3EE54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598B4B-1D75-4717-AF63-16CB387DA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F792A-56AC-4E88-9007-3EADFA525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5951-F597-47C0-8E44-45B842827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193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8F8F9-3FEC-426C-A60D-D686FC0AB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D90C8-5AB4-4EAD-B485-FA90EDC3D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AD771-BCAA-4D64-8AB1-ECB8D28EC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CB8A43-F7AD-4BBD-AC08-F177FC6B0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FFA97-2C85-4E9A-BA0C-5D1B00D3EE54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56D8B-CFE8-4270-9755-F6F64E221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CB6E9-9D0E-455B-9B9A-9BE2BD2AD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5951-F597-47C0-8E44-45B842827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5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47A28-4A3C-4584-87AB-BF2C4366C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E8B684-6975-42EF-B05F-98119D25A2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CE0053-2944-4B0E-A524-DF2E9B934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860BCF-F390-4325-88C1-84BBC1156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FFA97-2C85-4E9A-BA0C-5D1B00D3EE54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4324F-B193-4A7D-8278-BDC48C62E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4E869-BC94-4FD3-86D9-10872FE2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5951-F597-47C0-8E44-45B842827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7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6497B-D5F3-4B64-84EB-B6016CC8E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50AD89-73ED-448A-9B93-E48BF8D95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E5E5C-8925-4F1C-BB81-B536CFF47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FFA97-2C85-4E9A-BA0C-5D1B00D3EE54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90EF0-8A64-4A76-B456-429896CDC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640C0-08C4-4822-BAAC-77DCF2BD2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5951-F597-47C0-8E44-45B842827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312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42EA40-5D20-48FC-832A-74B835F12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81E0DA-EF9B-4318-B820-2A6BEEE0A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EEC44-DCEC-4A31-BD42-F1CB7BA93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FFA97-2C85-4E9A-BA0C-5D1B00D3EE54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5921D-B540-4C4D-B2DB-CE959EA76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31E95-F57E-4B92-85E9-A0CB8ED06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5951-F597-47C0-8E44-45B842827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793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58CDB5-9CAF-496E-B6CA-8CC150103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6ECAD-66B9-4BF2-9D67-E2963D7CC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7AE7F-B347-4FCD-94B9-F6BB4AE01C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5FFA97-2C85-4E9A-BA0C-5D1B00D3EE54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1A289-1B06-436F-BCF9-F4EC0314AB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55DB9-FF97-48D0-9E90-CB8775720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A5951-F597-47C0-8E44-45B8428278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266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10.bin"/><Relationship Id="rId18" Type="http://schemas.openxmlformats.org/officeDocument/2006/relationships/image" Target="../media/image14.wmf"/><Relationship Id="rId3" Type="http://schemas.openxmlformats.org/officeDocument/2006/relationships/oleObject" Target="../embeddings/oleObject5.bin"/><Relationship Id="rId21" Type="http://schemas.openxmlformats.org/officeDocument/2006/relationships/oleObject" Target="../embeddings/oleObject14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.wmf"/><Relationship Id="rId20" Type="http://schemas.openxmlformats.org/officeDocument/2006/relationships/image" Target="../media/image15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1.bin"/><Relationship Id="rId10" Type="http://schemas.openxmlformats.org/officeDocument/2006/relationships/image" Target="../media/image10.wmf"/><Relationship Id="rId19" Type="http://schemas.openxmlformats.org/officeDocument/2006/relationships/oleObject" Target="../embeddings/oleObject13.bin"/><Relationship Id="rId4" Type="http://schemas.openxmlformats.org/officeDocument/2006/relationships/image" Target="../media/image7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2.wmf"/><Relationship Id="rId22" Type="http://schemas.openxmlformats.org/officeDocument/2006/relationships/image" Target="../media/image16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21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2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wmf"/><Relationship Id="rId11" Type="http://schemas.openxmlformats.org/officeDocument/2006/relationships/image" Target="../media/image20.wmf"/><Relationship Id="rId5" Type="http://schemas.openxmlformats.org/officeDocument/2006/relationships/oleObject" Target="../embeddings/oleObject16.bin"/><Relationship Id="rId15" Type="http://schemas.openxmlformats.org/officeDocument/2006/relationships/image" Target="../media/image22.wmf"/><Relationship Id="rId10" Type="http://schemas.openxmlformats.org/officeDocument/2006/relationships/oleObject" Target="../embeddings/oleObject19.bin"/><Relationship Id="rId4" Type="http://schemas.openxmlformats.org/officeDocument/2006/relationships/image" Target="../media/image17.wmf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2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02CB7-A42C-4E8B-9C25-CAE55D98AF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>
            <a:normAutofit/>
          </a:bodyPr>
          <a:lstStyle/>
          <a:p>
            <a:r>
              <a:rPr lang="uk-UA" sz="3200" b="1" dirty="0">
                <a:latin typeface="+mn-lt"/>
              </a:rPr>
              <a:t>ЛАБОРАТОРНА РОБОТА №1</a:t>
            </a:r>
            <a:br>
              <a:rPr lang="en-US" sz="3200" b="1" dirty="0">
                <a:latin typeface="+mn-lt"/>
              </a:rPr>
            </a:br>
            <a:endParaRPr lang="en-US" sz="3200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C67551-4994-44CC-BB2A-E62A8ADED3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78125"/>
            <a:ext cx="9144000" cy="2479675"/>
          </a:xfrm>
        </p:spPr>
        <p:txBody>
          <a:bodyPr>
            <a:normAutofit/>
          </a:bodyPr>
          <a:lstStyle/>
          <a:p>
            <a:r>
              <a:rPr lang="uk-UA" sz="3200" b="1" dirty="0">
                <a:latin typeface="+mj-lt"/>
              </a:rPr>
              <a:t>ВИЗНАЧЕННЯ КОЕФІЦІЄНТУ ТЕПЛОПЕРЕДАЧІ МІЖ ЕЛЕМЕНТАМИ ГЕЛІОКОЛЕКТОРУ </a:t>
            </a:r>
          </a:p>
          <a:p>
            <a:r>
              <a:rPr lang="uk-UA" sz="3200" b="1" dirty="0">
                <a:latin typeface="+mj-lt"/>
              </a:rPr>
              <a:t>(променевий теплообмін + теплопровідність)</a:t>
            </a:r>
            <a:br>
              <a:rPr lang="en-US" sz="3200" dirty="0">
                <a:latin typeface="+mj-lt"/>
              </a:rPr>
            </a:br>
            <a:endParaRPr lang="en-US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95548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A044F-0B6A-493F-BC14-9511BCCBF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uk-UA" sz="3200" b="1" dirty="0"/>
              <a:t>Розподіл температур у поперечному перетині </a:t>
            </a:r>
            <a:br>
              <a:rPr lang="uk-UA" sz="3200" b="1" dirty="0"/>
            </a:br>
            <a:r>
              <a:rPr lang="uk-UA" sz="3200" b="1" dirty="0"/>
              <a:t>плоского щілинного ГК</a:t>
            </a:r>
            <a:endParaRPr lang="en-US" sz="32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DEEB80-E368-43E5-9A4D-68516276D1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289" y="1871003"/>
            <a:ext cx="7639591" cy="4420174"/>
          </a:xfrm>
        </p:spPr>
      </p:pic>
    </p:spTree>
    <p:extLst>
      <p:ext uri="{BB962C8B-B14F-4D97-AF65-F5344CB8AC3E}">
        <p14:creationId xmlns:p14="http://schemas.microsoft.com/office/powerpoint/2010/main" val="2144536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8CAE7-BB98-4C18-9BD0-2E31A32DE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3509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/>
              <a:t>Променевий теплообмін з лицевої сторони ГК</a:t>
            </a:r>
            <a:endParaRPr lang="en-US" sz="3200" b="1" dirty="0"/>
          </a:p>
        </p:txBody>
      </p:sp>
      <p:pic>
        <p:nvPicPr>
          <p:cNvPr id="66" name="Content Placeholder 65">
            <a:extLst>
              <a:ext uri="{FF2B5EF4-FFF2-40B4-BE49-F238E27FC236}">
                <a16:creationId xmlns:a16="http://schemas.microsoft.com/office/drawing/2014/main" id="{5E7376BA-033B-45B4-9FD0-A41D94B084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65563" y="1628576"/>
            <a:ext cx="4571999" cy="426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371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9188E-A776-44EB-B66F-64C2DA0E8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1306"/>
          </a:xfrm>
        </p:spPr>
        <p:txBody>
          <a:bodyPr>
            <a:normAutofit fontScale="90000"/>
          </a:bodyPr>
          <a:lstStyle/>
          <a:p>
            <a:pPr algn="ctr"/>
            <a:r>
              <a:rPr lang="uk-UA" sz="3600" b="1" dirty="0"/>
              <a:t>РОЗРАХУНОК КОЕФІЦІЄНТА ТЕПЛОПЕРЕДАЧІ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75D8CD0-4B8E-4106-B8A7-BCDB9CAF3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441F264-C01C-4E37-933C-9101E2520B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7664934"/>
              </p:ext>
            </p:extLst>
          </p:nvPr>
        </p:nvGraphicFramePr>
        <p:xfrm>
          <a:off x="2560638" y="1827213"/>
          <a:ext cx="2376487" cy="174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name="Equation" r:id="rId3" imgW="1180588" imgH="863225" progId="Equation.3">
                  <p:embed/>
                </p:oleObj>
              </mc:Choice>
              <mc:Fallback>
                <p:oleObj name="Equation" r:id="rId3" imgW="1180588" imgH="863225" progId="Equation.3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D441F264-C01C-4E37-933C-9101E2520B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0638" y="1827213"/>
                        <a:ext cx="2376487" cy="17446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>
            <a:extLst>
              <a:ext uri="{FF2B5EF4-FFF2-40B4-BE49-F238E27FC236}">
                <a16:creationId xmlns:a16="http://schemas.microsoft.com/office/drawing/2014/main" id="{1A7BBE01-5874-4AC9-BA8F-347D3C860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29F9359-9283-4C36-9C1B-3C2232EF9F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0613" y="2085695"/>
          <a:ext cx="4653058" cy="115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" name="Equation" r:id="rId5" imgW="2578100" imgH="635000" progId="Equation.3">
                  <p:embed/>
                </p:oleObj>
              </mc:Choice>
              <mc:Fallback>
                <p:oleObj name="Equation" r:id="rId5" imgW="2578100" imgH="635000" progId="Equation.3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529F9359-9283-4C36-9C1B-3C2232EF9F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0613" y="2085695"/>
                        <a:ext cx="4653058" cy="11503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>
            <a:extLst>
              <a:ext uri="{FF2B5EF4-FFF2-40B4-BE49-F238E27FC236}">
                <a16:creationId xmlns:a16="http://schemas.microsoft.com/office/drawing/2014/main" id="{5D177CCF-8160-468D-8AD2-05589E04B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92BF0B8-3ABE-4887-99FD-6A9FCE2C2F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31320" y="4144815"/>
          <a:ext cx="2085046" cy="12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" name="Equation" r:id="rId7" imgW="1231900" imgH="736600" progId="Equation.3">
                  <p:embed/>
                </p:oleObj>
              </mc:Choice>
              <mc:Fallback>
                <p:oleObj name="Equation" r:id="rId7" imgW="1231900" imgH="736600" progId="Equation.3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392BF0B8-3ABE-4887-99FD-6A9FCE2C2F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1320" y="4144815"/>
                        <a:ext cx="2085046" cy="12445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>
            <a:extLst>
              <a:ext uri="{FF2B5EF4-FFF2-40B4-BE49-F238E27FC236}">
                <a16:creationId xmlns:a16="http://schemas.microsoft.com/office/drawing/2014/main" id="{05FBA116-810C-4440-AF88-BAD987DD6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974DEBD7-2110-41DD-8AA6-5C811A3CF6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4612" y="4144815"/>
          <a:ext cx="2307106" cy="84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" name="Equation" r:id="rId9" imgW="1167893" imgH="431613" progId="Equation.3">
                  <p:embed/>
                </p:oleObj>
              </mc:Choice>
              <mc:Fallback>
                <p:oleObj name="Equation" r:id="rId9" imgW="1167893" imgH="431613" progId="Equation.3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974DEBD7-2110-41DD-8AA6-5C811A3CF6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4612" y="4144815"/>
                        <a:ext cx="2307106" cy="8440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4853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C0B20-F07D-4034-8AC4-717F4A331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760290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/>
              <a:t>Основні формули для розрахунку</a:t>
            </a:r>
            <a:r>
              <a:rPr lang="en-US" sz="3200" b="1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A85DD-95F3-4224-A73F-DCC7835BD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5418"/>
            <a:ext cx="10515600" cy="505154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68F3F8F-4C80-4363-AE03-FA9D07E51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A93F7BE-F16E-4234-8E00-7DAD6A0FB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CBA45BCB-A3E8-4206-B261-7561C0C202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6282924"/>
              </p:ext>
            </p:extLst>
          </p:nvPr>
        </p:nvGraphicFramePr>
        <p:xfrm>
          <a:off x="3751263" y="1177925"/>
          <a:ext cx="310356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8" name="Equation" r:id="rId3" imgW="1524000" imgH="241300" progId="Equation.3">
                  <p:embed/>
                </p:oleObj>
              </mc:Choice>
              <mc:Fallback>
                <p:oleObj name="Equation" r:id="rId3" imgW="1524000" imgH="241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1263" y="1177925"/>
                        <a:ext cx="3103562" cy="485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>
            <a:extLst>
              <a:ext uri="{FF2B5EF4-FFF2-40B4-BE49-F238E27FC236}">
                <a16:creationId xmlns:a16="http://schemas.microsoft.com/office/drawing/2014/main" id="{8E05CB01-2EDB-43EC-9A5D-2885BAF12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C023A97B-0D4E-4C8F-B138-5B7D1EAF87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1909878"/>
              </p:ext>
            </p:extLst>
          </p:nvPr>
        </p:nvGraphicFramePr>
        <p:xfrm>
          <a:off x="8342139" y="1223460"/>
          <a:ext cx="2931095" cy="44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9" name="Equation" r:id="rId5" imgW="1562100" imgH="241300" progId="Equation.3">
                  <p:embed/>
                </p:oleObj>
              </mc:Choice>
              <mc:Fallback>
                <p:oleObj name="Equation" r:id="rId5" imgW="1562100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2139" y="1223460"/>
                        <a:ext cx="2931095" cy="4468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1">
            <a:extLst>
              <a:ext uri="{FF2B5EF4-FFF2-40B4-BE49-F238E27FC236}">
                <a16:creationId xmlns:a16="http://schemas.microsoft.com/office/drawing/2014/main" id="{3A6A6CD5-5FA2-4F93-904C-6A0D89B2A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9BCBA9DB-32EB-4101-8875-4A8921413E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3571886"/>
              </p:ext>
            </p:extLst>
          </p:nvPr>
        </p:nvGraphicFramePr>
        <p:xfrm>
          <a:off x="1045101" y="1985040"/>
          <a:ext cx="2751138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0" name="Equation" r:id="rId7" imgW="1739900" imgH="723900" progId="Equation.3">
                  <p:embed/>
                </p:oleObj>
              </mc:Choice>
              <mc:Fallback>
                <p:oleObj name="Equation" r:id="rId7" imgW="1739900" imgH="7239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101" y="1985040"/>
                        <a:ext cx="2751138" cy="11366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3">
            <a:extLst>
              <a:ext uri="{FF2B5EF4-FFF2-40B4-BE49-F238E27FC236}">
                <a16:creationId xmlns:a16="http://schemas.microsoft.com/office/drawing/2014/main" id="{D9B78FFA-CBD0-4517-BE64-3C6FB66B3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1A5270E7-79C6-48FF-9B57-D2DBC710C1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3532377"/>
              </p:ext>
            </p:extLst>
          </p:nvPr>
        </p:nvGraphicFramePr>
        <p:xfrm>
          <a:off x="4332330" y="2553365"/>
          <a:ext cx="3411954" cy="682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1" name="Equation" r:id="rId9" imgW="2286000" imgH="457200" progId="Equation.3">
                  <p:embed/>
                </p:oleObj>
              </mc:Choice>
              <mc:Fallback>
                <p:oleObj name="Equation" r:id="rId9" imgW="2286000" imgH="457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2330" y="2553365"/>
                        <a:ext cx="3411954" cy="6823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5">
            <a:extLst>
              <a:ext uri="{FF2B5EF4-FFF2-40B4-BE49-F238E27FC236}">
                <a16:creationId xmlns:a16="http://schemas.microsoft.com/office/drawing/2014/main" id="{9DDBBAD3-746E-4405-945B-F320DEDB2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213305BC-8A57-4B79-B6E7-CA1F11720E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9751632"/>
              </p:ext>
            </p:extLst>
          </p:nvPr>
        </p:nvGraphicFramePr>
        <p:xfrm>
          <a:off x="1326380" y="3595195"/>
          <a:ext cx="3361525" cy="710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2" name="Equation" r:id="rId11" imgW="2159000" imgH="457200" progId="Equation.3">
                  <p:embed/>
                </p:oleObj>
              </mc:Choice>
              <mc:Fallback>
                <p:oleObj name="Equation" r:id="rId11" imgW="2159000" imgH="457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6380" y="3595195"/>
                        <a:ext cx="3361525" cy="7108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7">
            <a:extLst>
              <a:ext uri="{FF2B5EF4-FFF2-40B4-BE49-F238E27FC236}">
                <a16:creationId xmlns:a16="http://schemas.microsoft.com/office/drawing/2014/main" id="{A6E3A6AF-6D0B-4111-B213-31C72A0DA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4FF3FC13-3F01-4EE4-80A1-553553BC62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011642"/>
              </p:ext>
            </p:extLst>
          </p:nvPr>
        </p:nvGraphicFramePr>
        <p:xfrm>
          <a:off x="8395762" y="2015864"/>
          <a:ext cx="2362178" cy="1075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3" name="Equation" r:id="rId13" imgW="1586811" imgH="723586" progId="Equation.3">
                  <p:embed/>
                </p:oleObj>
              </mc:Choice>
              <mc:Fallback>
                <p:oleObj name="Equation" r:id="rId13" imgW="1586811" imgH="723586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5762" y="2015864"/>
                        <a:ext cx="2362178" cy="10750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9">
            <a:extLst>
              <a:ext uri="{FF2B5EF4-FFF2-40B4-BE49-F238E27FC236}">
                <a16:creationId xmlns:a16="http://schemas.microsoft.com/office/drawing/2014/main" id="{7E707D83-7656-4134-A66D-D4C89CCA9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2AAD8330-0FD8-48E3-9C6B-1B555EBFC0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9538623"/>
              </p:ext>
            </p:extLst>
          </p:nvPr>
        </p:nvGraphicFramePr>
        <p:xfrm>
          <a:off x="8537610" y="3087387"/>
          <a:ext cx="2004107" cy="9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4" name="Equation" r:id="rId15" imgW="1536033" imgH="723586" progId="Equation.3">
                  <p:embed/>
                </p:oleObj>
              </mc:Choice>
              <mc:Fallback>
                <p:oleObj name="Equation" r:id="rId15" imgW="1536033" imgH="723586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7610" y="3087387"/>
                        <a:ext cx="2004107" cy="9460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29">
            <a:extLst>
              <a:ext uri="{FF2B5EF4-FFF2-40B4-BE49-F238E27FC236}">
                <a16:creationId xmlns:a16="http://schemas.microsoft.com/office/drawing/2014/main" id="{F0594967-2B5C-42B3-86D3-C408EABD3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881FE391-0FBB-474C-BA49-68E421C8BD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9167746"/>
              </p:ext>
            </p:extLst>
          </p:nvPr>
        </p:nvGraphicFramePr>
        <p:xfrm>
          <a:off x="1180303" y="4738072"/>
          <a:ext cx="4123217" cy="7889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5" name="Equation" r:id="rId17" imgW="2641600" imgH="508000" progId="Equation.3">
                  <p:embed/>
                </p:oleObj>
              </mc:Choice>
              <mc:Fallback>
                <p:oleObj name="Equation" r:id="rId17" imgW="2641600" imgH="5080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0303" y="4738072"/>
                        <a:ext cx="4123217" cy="7889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31">
            <a:extLst>
              <a:ext uri="{FF2B5EF4-FFF2-40B4-BE49-F238E27FC236}">
                <a16:creationId xmlns:a16="http://schemas.microsoft.com/office/drawing/2014/main" id="{228C46F7-C066-4BC4-A982-52A1052FC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C212C03B-5092-4E4B-8188-8DA9538985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4112707"/>
              </p:ext>
            </p:extLst>
          </p:nvPr>
        </p:nvGraphicFramePr>
        <p:xfrm>
          <a:off x="5608632" y="4742648"/>
          <a:ext cx="6043789" cy="989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6" name="Equation" r:id="rId19" imgW="4419600" imgH="723900" progId="Equation.3">
                  <p:embed/>
                </p:oleObj>
              </mc:Choice>
              <mc:Fallback>
                <p:oleObj name="Equation" r:id="rId19" imgW="4419600" imgH="7239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8632" y="4742648"/>
                        <a:ext cx="6043789" cy="9899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828DFAD9-9A82-4857-86B1-A3DB2645D0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0965483"/>
              </p:ext>
            </p:extLst>
          </p:nvPr>
        </p:nvGraphicFramePr>
        <p:xfrm>
          <a:off x="4815350" y="1733302"/>
          <a:ext cx="1880871" cy="789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7" name="Equation" r:id="rId21" imgW="1028520" imgH="431640" progId="Equation.DSMT4">
                  <p:embed/>
                </p:oleObj>
              </mc:Choice>
              <mc:Fallback>
                <p:oleObj name="Equation" r:id="rId21" imgW="10285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815350" y="1733302"/>
                        <a:ext cx="1880871" cy="7895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4596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38BEF-3E48-470A-828F-66CF3B659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3170"/>
          </a:xfrm>
        </p:spPr>
        <p:txBody>
          <a:bodyPr>
            <a:normAutofit/>
          </a:bodyPr>
          <a:lstStyle/>
          <a:p>
            <a:pPr algn="ctr"/>
            <a:r>
              <a:rPr lang="uk-UA" sz="3200" b="1" dirty="0"/>
              <a:t>Алгоритм розрахунку методом ітерацій </a:t>
            </a:r>
            <a:endParaRPr lang="en-US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F39C8-7980-462E-A456-E711C8325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895" y="1308296"/>
            <a:ext cx="11479237" cy="5184577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uk-UA" dirty="0"/>
              <a:t>Вводимо початкові дані – геометричні та енергетичні </a:t>
            </a:r>
          </a:p>
          <a:p>
            <a:pPr marL="514350" indent="-514350">
              <a:buAutoNum type="arabicPeriod"/>
            </a:pPr>
            <a:r>
              <a:rPr lang="uk-UA" dirty="0"/>
              <a:t>Загадуємо початкове наближення </a:t>
            </a:r>
          </a:p>
          <a:p>
            <a:pPr marL="514350" indent="-514350">
              <a:buAutoNum type="arabicPeriod"/>
            </a:pPr>
            <a:r>
              <a:rPr lang="en-US" b="1" dirty="0">
                <a:solidFill>
                  <a:srgbClr val="00B050"/>
                </a:solidFill>
              </a:rPr>
              <a:t>FOR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uk-UA" dirty="0">
                <a:solidFill>
                  <a:srgbClr val="FF0000"/>
                </a:solidFill>
              </a:rPr>
              <a:t>Розраховуємо з </a:t>
            </a:r>
          </a:p>
          <a:p>
            <a:pPr marL="514350" indent="-514350">
              <a:buAutoNum type="arabicPeriod"/>
            </a:pPr>
            <a:r>
              <a:rPr lang="uk-UA" dirty="0"/>
              <a:t>Розраховуємо за формулою екрана </a:t>
            </a:r>
            <a:endParaRPr lang="en-US" dirty="0"/>
          </a:p>
          <a:p>
            <a:pPr marL="514350" indent="-514350">
              <a:buAutoNum type="arabicPeriod"/>
            </a:pPr>
            <a:r>
              <a:rPr lang="uk-UA" dirty="0"/>
              <a:t>Розраховуємо променеві коефіцієнти тепловіддачі для скла та зазору</a:t>
            </a:r>
          </a:p>
          <a:p>
            <a:pPr marL="514350" indent="-514350">
              <a:buAutoNum type="arabicPeriod"/>
            </a:pPr>
            <a:r>
              <a:rPr lang="uk-UA" dirty="0"/>
              <a:t>Розраховуємо нове значення</a:t>
            </a:r>
          </a:p>
          <a:p>
            <a:pPr marL="514350" indent="-514350">
              <a:buAutoNum type="arabicPeriod"/>
            </a:pPr>
            <a:r>
              <a:rPr lang="uk-UA" dirty="0"/>
              <a:t>Порівнюємо</a:t>
            </a:r>
          </a:p>
          <a:p>
            <a:pPr marL="514350" indent="-514350">
              <a:buAutoNum type="arabicPeriod"/>
            </a:pPr>
            <a:r>
              <a:rPr lang="uk-UA" dirty="0"/>
              <a:t>Якщо 7 – вірно, то значення знайдено, якщо ні, то</a:t>
            </a:r>
            <a:endParaRPr lang="en-US" dirty="0"/>
          </a:p>
          <a:p>
            <a:pPr marL="514350" indent="-514350">
              <a:buAutoNum type="arabicPeriod"/>
            </a:pPr>
            <a:r>
              <a:rPr lang="uk-UA" dirty="0"/>
              <a:t>Проводиться ще одна ітерація, але з використанням уточненої формули  для    </a:t>
            </a: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7785DC7-F8C4-4968-9F77-36F14DA3C6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9297861"/>
              </p:ext>
            </p:extLst>
          </p:nvPr>
        </p:nvGraphicFramePr>
        <p:xfrm>
          <a:off x="6762847" y="1888042"/>
          <a:ext cx="397607" cy="419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5" name="Equation" r:id="rId3" imgW="228600" imgH="241200" progId="Equation.DSMT4">
                  <p:embed/>
                </p:oleObj>
              </mc:Choice>
              <mc:Fallback>
                <p:oleObj name="Equation" r:id="rId3" imgW="2286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62847" y="1888042"/>
                        <a:ext cx="397607" cy="4196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CC75381B-993F-4A89-9489-A25D9B3E93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2042800"/>
              </p:ext>
            </p:extLst>
          </p:nvPr>
        </p:nvGraphicFramePr>
        <p:xfrm>
          <a:off x="4655426" y="2397794"/>
          <a:ext cx="441779" cy="381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6" name="Equation" r:id="rId5" imgW="279360" imgH="241200" progId="Equation.DSMT4">
                  <p:embed/>
                </p:oleObj>
              </mc:Choice>
              <mc:Fallback>
                <p:oleObj name="Equation" r:id="rId5" imgW="2793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55426" y="2397794"/>
                        <a:ext cx="441779" cy="3815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FC0A8740-3368-4843-8B17-A192B6111E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0511318"/>
              </p:ext>
            </p:extLst>
          </p:nvPr>
        </p:nvGraphicFramePr>
        <p:xfrm>
          <a:off x="4031370" y="2378714"/>
          <a:ext cx="397607" cy="419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7" name="Equation" r:id="rId7" imgW="228600" imgH="241200" progId="Equation.DSMT4">
                  <p:embed/>
                </p:oleObj>
              </mc:Choice>
              <mc:Fallback>
                <p:oleObj name="Equation" r:id="rId7" imgW="228600" imgH="2412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87785DC7-F8C4-4968-9F77-36F14DA3C6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31370" y="2378714"/>
                        <a:ext cx="397607" cy="4196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49FF012-3E8D-47AE-A0A2-6489911B28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025240"/>
              </p:ext>
            </p:extLst>
          </p:nvPr>
        </p:nvGraphicFramePr>
        <p:xfrm>
          <a:off x="6543578" y="2883168"/>
          <a:ext cx="406449" cy="367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8" name="Equation" r:id="rId8" imgW="266400" imgH="241200" progId="Equation.DSMT4">
                  <p:embed/>
                </p:oleObj>
              </mc:Choice>
              <mc:Fallback>
                <p:oleObj name="Equation" r:id="rId8" imgW="2664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543578" y="2883168"/>
                        <a:ext cx="406449" cy="3677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4424C62F-9C4D-4905-9C3B-823CC13A0A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6367950"/>
              </p:ext>
            </p:extLst>
          </p:nvPr>
        </p:nvGraphicFramePr>
        <p:xfrm>
          <a:off x="5637429" y="3854739"/>
          <a:ext cx="458571" cy="484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9" name="Equation" r:id="rId10" imgW="228600" imgH="241200" progId="Equation.DSMT4">
                  <p:embed/>
                </p:oleObj>
              </mc:Choice>
              <mc:Fallback>
                <p:oleObj name="Equation" r:id="rId10" imgW="2286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637429" y="3854739"/>
                        <a:ext cx="458571" cy="4840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5">
            <a:extLst>
              <a:ext uri="{FF2B5EF4-FFF2-40B4-BE49-F238E27FC236}">
                <a16:creationId xmlns:a16="http://schemas.microsoft.com/office/drawing/2014/main" id="{62B4CEC7-1AD1-4D0D-878F-510F2BE9E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ABF25946-2B53-42E8-BAB2-9C1D58D288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8185991"/>
              </p:ext>
            </p:extLst>
          </p:nvPr>
        </p:nvGraphicFramePr>
        <p:xfrm>
          <a:off x="3095625" y="4237038"/>
          <a:ext cx="1560513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0" name="Equation" r:id="rId12" imgW="1333500" imgH="596900" progId="Equation.3">
                  <p:embed/>
                </p:oleObj>
              </mc:Choice>
              <mc:Fallback>
                <p:oleObj name="Equation" r:id="rId12" imgW="1333500" imgH="596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4237038"/>
                        <a:ext cx="1560513" cy="701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0B34D126-C57C-48D7-8E91-1123594401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5203919"/>
              </p:ext>
            </p:extLst>
          </p:nvPr>
        </p:nvGraphicFramePr>
        <p:xfrm>
          <a:off x="8829522" y="4938861"/>
          <a:ext cx="907852" cy="367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1" name="Equation" r:id="rId14" imgW="596880" imgH="241200" progId="Equation.DSMT4">
                  <p:embed/>
                </p:oleObj>
              </mc:Choice>
              <mc:Fallback>
                <p:oleObj name="Equation" r:id="rId14" imgW="5968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829522" y="4938861"/>
                        <a:ext cx="907852" cy="367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8306970E-DB91-4139-83B2-80FEEF7F8B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345443"/>
              </p:ext>
            </p:extLst>
          </p:nvPr>
        </p:nvGraphicFramePr>
        <p:xfrm>
          <a:off x="3235325" y="5863171"/>
          <a:ext cx="406449" cy="367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2" name="Equation" r:id="rId16" imgW="266400" imgH="241200" progId="Equation.DSMT4">
                  <p:embed/>
                </p:oleObj>
              </mc:Choice>
              <mc:Fallback>
                <p:oleObj name="Equation" r:id="rId16" imgW="266400" imgH="2412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849FF012-3E8D-47AE-A0A2-6489911B28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235325" y="5863171"/>
                        <a:ext cx="406449" cy="3677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B97B4EF-50E0-4AF0-971E-BDFA0A21F447}"/>
              </a:ext>
            </a:extLst>
          </p:cNvPr>
          <p:cNvSpPr txBox="1"/>
          <p:nvPr/>
        </p:nvSpPr>
        <p:spPr>
          <a:xfrm>
            <a:off x="9917724" y="4909628"/>
            <a:ext cx="1477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END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A8791E-E84A-4BC4-A0C5-AB0A69AB3F71}"/>
              </a:ext>
            </a:extLst>
          </p:cNvPr>
          <p:cNvSpPr txBox="1"/>
          <p:nvPr/>
        </p:nvSpPr>
        <p:spPr>
          <a:xfrm>
            <a:off x="11774658" y="8440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530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B802A1723009488889941113EF01B4" ma:contentTypeVersion="8" ma:contentTypeDescription="Create a new document." ma:contentTypeScope="" ma:versionID="1df3a791a6fb09781c0c6e4d6576f202">
  <xsd:schema xmlns:xsd="http://www.w3.org/2001/XMLSchema" xmlns:xs="http://www.w3.org/2001/XMLSchema" xmlns:p="http://schemas.microsoft.com/office/2006/metadata/properties" xmlns:ns2="e0700ddb-698d-4798-8021-d6a863cf924a" targetNamespace="http://schemas.microsoft.com/office/2006/metadata/properties" ma:root="true" ma:fieldsID="3052e9de261c1d1e8be23b51d709af7b" ns2:_="">
    <xsd:import namespace="e0700ddb-698d-4798-8021-d6a863cf92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700ddb-698d-4798-8021-d6a863cf92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AE044DE-B37D-41F4-B085-A4A1B78C444A}"/>
</file>

<file path=customXml/itemProps2.xml><?xml version="1.0" encoding="utf-8"?>
<ds:datastoreItem xmlns:ds="http://schemas.openxmlformats.org/officeDocument/2006/customXml" ds:itemID="{3D09DAD1-B516-4927-A439-BD86BAEC997D}"/>
</file>

<file path=customXml/itemProps3.xml><?xml version="1.0" encoding="utf-8"?>
<ds:datastoreItem xmlns:ds="http://schemas.openxmlformats.org/officeDocument/2006/customXml" ds:itemID="{8B77F126-F234-45AB-9BF7-8EAEBF9C89A0}"/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99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Equation</vt:lpstr>
      <vt:lpstr>ЛАБОРАТОРНА РОБОТА №1 </vt:lpstr>
      <vt:lpstr>Розподіл температур у поперечному перетині  плоского щілинного ГК</vt:lpstr>
      <vt:lpstr>Променевий теплообмін з лицевої сторони ГК</vt:lpstr>
      <vt:lpstr>РОЗРАХУНОК КОЕФІЦІЄНТА ТЕПЛОПЕРЕДАЧІ </vt:lpstr>
      <vt:lpstr>Основні формули для розрахунку </vt:lpstr>
      <vt:lpstr>Алгоритм розрахунку методом ітерацій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 РОБОТА №1 </dc:title>
  <dc:creator>lyudmila knysh</dc:creator>
  <cp:lastModifiedBy>Книш Людмила Іванівна</cp:lastModifiedBy>
  <cp:revision>15</cp:revision>
  <dcterms:created xsi:type="dcterms:W3CDTF">2020-04-01T14:55:29Z</dcterms:created>
  <dcterms:modified xsi:type="dcterms:W3CDTF">2021-11-13T09:51:15Z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0x01010022B802A1723009488889941113EF01B4</vt:lpwstr>
  </property>
</Properties>
</file>